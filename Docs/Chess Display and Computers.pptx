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notesMasterIdLst>
    <p:notesMasterId r:id="rId29"/>
  </p:notesMasterIdLst>
  <p:handoutMasterIdLst>
    <p:handoutMasterId r:id="rId30"/>
  </p:handoutMasterIdLst>
  <p:sldIdLst>
    <p:sldId id="256" r:id="rId2"/>
    <p:sldId id="355" r:id="rId3"/>
    <p:sldId id="405" r:id="rId4"/>
    <p:sldId id="406" r:id="rId5"/>
    <p:sldId id="407" r:id="rId6"/>
    <p:sldId id="425" r:id="rId7"/>
    <p:sldId id="426" r:id="rId8"/>
    <p:sldId id="411" r:id="rId9"/>
    <p:sldId id="412" r:id="rId10"/>
    <p:sldId id="408" r:id="rId11"/>
    <p:sldId id="409" r:id="rId12"/>
    <p:sldId id="410" r:id="rId13"/>
    <p:sldId id="413" r:id="rId14"/>
    <p:sldId id="414" r:id="rId15"/>
    <p:sldId id="415" r:id="rId16"/>
    <p:sldId id="416" r:id="rId17"/>
    <p:sldId id="421" r:id="rId18"/>
    <p:sldId id="424" r:id="rId19"/>
    <p:sldId id="418" r:id="rId20"/>
    <p:sldId id="420" r:id="rId21"/>
    <p:sldId id="422" r:id="rId22"/>
    <p:sldId id="423" r:id="rId23"/>
    <p:sldId id="417" r:id="rId24"/>
    <p:sldId id="427" r:id="rId25"/>
    <p:sldId id="430" r:id="rId26"/>
    <p:sldId id="429" r:id="rId27"/>
    <p:sldId id="403" r:id="rId28"/>
  </p:sldIdLst>
  <p:sldSz cx="12192000" cy="68580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les Smith" initials="" lastIdx="0" clrIdx="0"/>
  <p:cmAuthor id="2" name="Charles Smith" initials="CS" lastIdx="3" clrIdx="1">
    <p:extLst>
      <p:ext uri="{19B8F6BF-5375-455C-9EA6-DF929625EA0E}">
        <p15:presenceInfo xmlns:p15="http://schemas.microsoft.com/office/powerpoint/2012/main" userId="1b3e2396226a364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handoutView">
  <p:normalViewPr horzBarState="maximized">
    <p:restoredLeft sz="17986" autoAdjust="0"/>
    <p:restoredTop sz="86410" autoAdjust="0"/>
  </p:normalViewPr>
  <p:slideViewPr>
    <p:cSldViewPr snapToGrid="0">
      <p:cViewPr varScale="1">
        <p:scale>
          <a:sx n="61" d="100"/>
          <a:sy n="61" d="100"/>
        </p:scale>
        <p:origin x="72" y="1488"/>
      </p:cViewPr>
      <p:guideLst/>
    </p:cSldViewPr>
  </p:slideViewPr>
  <p:outlineViewPr>
    <p:cViewPr>
      <p:scale>
        <a:sx n="33" d="100"/>
        <a:sy n="33" d="100"/>
      </p:scale>
      <p:origin x="0" y="-2363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4328"/>
    </p:cViewPr>
  </p:sorterViewPr>
  <p:notesViewPr>
    <p:cSldViewPr snapToGrid="0">
      <p:cViewPr varScale="1">
        <p:scale>
          <a:sx n="82" d="100"/>
          <a:sy n="82" d="100"/>
        </p:scale>
        <p:origin x="1128" y="12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C30C04-DA98-43A8-9179-8EFB5DC8AA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r>
              <a:rPr lang="en-US" dirty="0"/>
              <a:t>Chess Display and Computers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B426F-EE3F-4C9A-96FF-0138D3773D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1F68F6A-2B9C-4819-AC3B-6AE3589F1402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F653D-AA42-4543-8859-17FE42335B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8ACFE-76DD-4178-A6EF-A2913508AE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E28DB299-B29B-4052-B9CA-268EF89506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092935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r>
              <a:rPr lang="en-US" dirty="0"/>
              <a:t>Introduction to Programming using Python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5397933D-7A1B-4403-8C00-DE52D8FE2162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BA791329-992B-4F83-8435-C33B0EC26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55191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C084F0E-41CF-4207-8B70-198F21418836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261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34D050-5128-424E-B0C7-5BFB4917C3AB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43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5EB08-8DAC-21D6-86A1-92DC206F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52DB8-2270-249F-F871-159B8A46B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02D4B-A683-6251-D9CD-9D440E050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A73E326-B64F-73A6-6982-ABB24EE62C2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07B2C-77EB-8015-6953-7A1D25B719EE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34D050-5128-424E-B0C7-5BFB4917C3AB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8A58-F5FB-2149-68DD-0F2577C0FF2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840A4-C253-5E31-B8A6-66C6120904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945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8F73A-C253-673F-F197-26EC6BE4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E232D-F5D0-ECAD-2101-9712385E3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C2988-6128-F19F-1EDD-EE18A5C8E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Bobby Fisher – “Game of the Century”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531A4A9-C2AE-EEB2-A42F-0BC6C258526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C7191-BF40-50DB-19A1-F544D3BF0A7C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34D050-5128-424E-B0C7-5BFB4917C3AB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3DEA8-D5F6-2FA2-63D8-D2B6373511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8921E-3868-20AF-5E55-37424AFD582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22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80067-417D-1A1D-511F-055A9306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CC660-EF04-E0D0-B2D4-B9C6042CE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FA173-BBF1-1340-6C08-A77D0D0F0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Bobby Fisher – “Game of the Century”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99D5930-7F58-D782-9319-F89B5ED5A2A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6E18D-B0B4-14C2-17A6-6B234E8662E8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34D050-5128-424E-B0C7-5BFB4917C3AB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BAA33-375C-DFB0-9CA4-2BDAAD487D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80970-99DA-4CE6-B18E-F7B02C162C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72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59B67-8859-6367-77D8-5E1DC9210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4CA4A-855D-E474-3229-F3B67FBC2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C008B-7155-6E11-3E82-C25630B67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BDE1896-AC70-0DD2-9B1B-AC6E452B52F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C6642-1B8A-857B-0169-D90BF8E21A9B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34D050-5128-424E-B0C7-5BFB4917C3AB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F43DD-9726-E7E7-FFF3-4350F676B9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21622-C200-2E18-3674-B35B78341B2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229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4067E-4349-5CA0-269D-35F8ABF8E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8E284-FA14-8962-01BC-C85C1D2C0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A47C3-50D9-4699-F806-4EE9E20C1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7CB038F-3FFD-E435-1D45-2D5551E07C1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0B1D3-281A-30FA-6BA9-62C6F21E11DD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34D050-5128-424E-B0C7-5BFB4917C3AB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971F0-2084-B563-7E16-E4C6313156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A599D-1FAB-1FDD-1C31-B8581A9DB2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338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BF11A-EE2B-3A08-08B9-1B72CC3FB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C8F0A-56CF-A3CC-8E39-1F40583EC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1A7CB-52E8-F98D-6B0E-8EC0BD171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A34B323-2A77-5FB3-8C4C-404C7B642FE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2CE9E-558D-7B15-81BF-2CCF4B5BADF0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34D050-5128-424E-B0C7-5BFB4917C3AB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0376D-4034-9548-77FB-5F33807D42B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3F4D1-1311-6E22-C88C-9E471C1561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40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B35C7-6873-B3ED-14FF-A81125153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B5CA5-5956-A867-ED5B-C7F8834FD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029C1-6A53-AE6C-3E59-CB7F71EBE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90A9648-D9C8-D0CB-9AFD-4DDBFD492C6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D5CC2-95FE-92FD-2DEF-B184AE7E58EE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34D050-5128-424E-B0C7-5BFB4917C3AB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D6290-089D-0C17-6D11-522848E8A6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20CAC-391F-29CE-BCB4-1F9FB80BA1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84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580B5-1130-1A94-C82A-CF4D68A0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FE8CC-EC09-7070-44E6-14742E1E3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D631D-D45C-EE14-4945-5E4DBC7F1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80C9714-390E-3673-5DF9-E358208C534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4B549-604F-0CFC-F8FB-E8FD718BBC8A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34D050-5128-424E-B0C7-5BFB4917C3AB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5C178-319C-915C-97BF-85E4BCF314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68222-0813-7B0C-EDD5-117C7FA26AB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673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0D92-2108-39CE-0A19-30208DEC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8F087-AE83-723F-3424-C612A5749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958AA-B1D7-AC93-1A05-52F4EC82F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10E01D3-43BE-1D7B-9A38-1385B2EB9C9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5D0AE-1874-3200-28F6-A11174ADD363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34D050-5128-424E-B0C7-5BFB4917C3AB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0AE1D-43EA-C8BB-7B6D-C24B41B7C09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B6F0D-B489-4DBD-A368-DCA80173C9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6894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541D-0BDC-5246-0957-11F4A534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8A363-8159-80AA-3817-B23B8EADA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1ADFF-4687-7947-2A55-7A7E8D753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218C481-0A43-19CA-5212-E3ADB77BE55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7E1AC-92A0-EC93-F8C7-77CA68EAF2A8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34D050-5128-424E-B0C7-5BFB4917C3AB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E3BD3-77B0-202D-4475-BC46063E61E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E1691-FB34-85A5-CD07-4307F8AB252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32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reverses up(1) with down(-1) for black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Introduction to Programming using Python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397933D-7A1B-4403-8C00-DE52D8FE2162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1003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Introduction to Programming using Python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397933D-7A1B-4403-8C00-DE52D8FE2162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072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1E0ADA2-1B64-45DB-B2E6-F6A11AB7EB9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76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0D8A6-D61F-4DCA-82DB-6A888A9B2487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96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014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7F69-C248-41A3-8602-E8D54188EDB0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991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086-39C4-4128-985B-FB07F33D3CF3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935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DCF5-0A36-4D40-B549-3F06F2B68F47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65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728E-A64F-4CB2-A929-EC8F77743E5A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50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B85-6381-4843-915E-A80D8CF566B9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83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FA659-E42E-4DAC-9069-4C6BD9C68659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4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6933-E9E6-4227-B3A4-00207D316420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52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B04C-660C-4601-8C32-DAC504F51286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1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95457-F83B-45BB-B822-2DF2A1FD0C27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7042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5F462-1497-413B-A43E-E69E6D8E4BEF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468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2C08A-409D-4E56-98A3-A36D8B5C9F4C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6231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9E2CF-C14A-49FB-8201-FEEF3BF16570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640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D04B1-0384-44B0-8537-B8F12FD50EF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015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F4745-C362-4373-8D92-8EF41093E01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5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93A93-C82D-47F0-A099-2DE871639089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320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arshall_Chess_Club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New_York_City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A52B-07F3-428A-AE74-138A34034A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Chess Display and Computers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978A9-2CA9-49C2-9073-C0526E7E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E02F-DFA0-4A0E-B523-2B95372C2781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7784B-1224-4A1C-9D1F-2F39A761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A865C-3D2F-422B-BE43-A53DD0E6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                     Chess Display and Computers</a:t>
            </a:r>
          </a:p>
        </p:txBody>
      </p:sp>
    </p:spTree>
    <p:extLst>
      <p:ext uri="{BB962C8B-B14F-4D97-AF65-F5344CB8AC3E}">
        <p14:creationId xmlns:p14="http://schemas.microsoft.com/office/powerpoint/2010/main" val="87531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97A9-C99B-4AA3-B223-455230B3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CD65-FDE0-45AB-8C92-688A07CCC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3477"/>
            <a:ext cx="9078507" cy="4447886"/>
          </a:xfrm>
        </p:spPr>
        <p:txBody>
          <a:bodyPr>
            <a:normAutofit/>
          </a:bodyPr>
          <a:lstStyle/>
          <a:p>
            <a:r>
              <a:rPr lang="en-US" sz="4000" dirty="0"/>
              <a:t>Have Some Fun</a:t>
            </a:r>
          </a:p>
          <a:p>
            <a:r>
              <a:rPr lang="en-US" sz="4000" dirty="0"/>
              <a:t>Demonstrate Chess Display</a:t>
            </a:r>
          </a:p>
          <a:p>
            <a:r>
              <a:rPr lang="en-US" sz="4000" dirty="0"/>
              <a:t>Show Relationship Between Chess and Computer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64DA-0813-483A-8A64-71924345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CE44-14AA-407B-9781-80C2DD8F374A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83744-B960-4FDC-9100-33AFA22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AF28DD-11BC-43F5-9F29-84518C3B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266548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AC7D3-9076-9BD9-9F76-4998C1187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F655-69D6-36B2-0A32-334547C29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Chess Display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62D0A-57D0-842F-3330-0A5464DE2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3477"/>
            <a:ext cx="9078507" cy="4447886"/>
          </a:xfrm>
        </p:spPr>
        <p:txBody>
          <a:bodyPr>
            <a:normAutofit/>
          </a:bodyPr>
          <a:lstStyle/>
          <a:p>
            <a:r>
              <a:rPr lang="en-US" sz="4000" dirty="0"/>
              <a:t>NOT Playing Chess</a:t>
            </a:r>
          </a:p>
          <a:p>
            <a:r>
              <a:rPr lang="en-US" sz="4000" dirty="0"/>
              <a:t>Display Chess Position</a:t>
            </a:r>
          </a:p>
          <a:p>
            <a:r>
              <a:rPr lang="en-US" sz="4000" dirty="0"/>
              <a:t>Support Chess Analysis</a:t>
            </a:r>
          </a:p>
          <a:p>
            <a:endParaRPr lang="en-US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FE04E-E517-9703-1EC2-3A7FDBEA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CE44-14AA-407B-9781-80C2DD8F374A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B0AA1-9ABE-707E-B1BC-E64539A2F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5EB6DA-81FA-5119-D5A6-8C018CD08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314260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2DA9D-17B1-11F3-D5AF-44D7A587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6BFC-321D-4630-10C5-5BB5D2CF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Chess Display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EF5D2-F9E9-802D-6E4C-F25484EBF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3477"/>
            <a:ext cx="9078507" cy="4447886"/>
          </a:xfrm>
        </p:spPr>
        <p:txBody>
          <a:bodyPr>
            <a:normAutofit/>
          </a:bodyPr>
          <a:lstStyle/>
          <a:p>
            <a:r>
              <a:rPr lang="en-US" sz="4000" dirty="0"/>
              <a:t>Display Board</a:t>
            </a:r>
          </a:p>
          <a:p>
            <a:r>
              <a:rPr lang="en-US" sz="4000" dirty="0"/>
              <a:t>Show Chess Game</a:t>
            </a:r>
          </a:p>
          <a:p>
            <a:pPr lvl="1"/>
            <a:r>
              <a:rPr lang="en-US" sz="3800" dirty="0"/>
              <a:t>Move, Unmove</a:t>
            </a:r>
          </a:p>
          <a:p>
            <a:pPr lvl="1"/>
            <a:r>
              <a:rPr lang="en-US" sz="3800" dirty="0"/>
              <a:t>Automated or Manual</a:t>
            </a:r>
          </a:p>
          <a:p>
            <a:r>
              <a:rPr lang="en-US" sz="4000" dirty="0"/>
              <a:t>Examine Recorded Games</a:t>
            </a:r>
          </a:p>
          <a:p>
            <a:endParaRPr lang="en-US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28C4A-59CC-AD9C-5943-F91BC1D0D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CE44-14AA-407B-9781-80C2DD8F374A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06961-4F74-6550-9737-9440E2F79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257C96-FDB7-0AD5-BB86-530F56E7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138692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70503-00D9-597A-9C45-C32A3B35C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3134-A455-BEA9-86EB-A1E4051EF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5EB0B-1D4C-136C-FF01-4857873BE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3477"/>
            <a:ext cx="9078507" cy="4447886"/>
          </a:xfrm>
        </p:spPr>
        <p:txBody>
          <a:bodyPr>
            <a:normAutofit/>
          </a:bodyPr>
          <a:lstStyle/>
          <a:p>
            <a:r>
              <a:rPr lang="en-US" sz="4000" dirty="0"/>
              <a:t>Game of the Century</a:t>
            </a:r>
          </a:p>
          <a:p>
            <a:r>
              <a:rPr lang="en-US" sz="4000" dirty="0"/>
              <a:t>Bobby Fischer vs Donald Byrne</a:t>
            </a:r>
          </a:p>
          <a:p>
            <a:r>
              <a:rPr lang="en-US" sz="4000" dirty="0">
                <a:hlinkClick r:id="rId3" tooltip="Marshall Chess Club"/>
              </a:rPr>
              <a:t>Marshall Chess Club</a:t>
            </a:r>
            <a:r>
              <a:rPr lang="en-US" sz="4000" dirty="0"/>
              <a:t> in </a:t>
            </a:r>
            <a:r>
              <a:rPr lang="en-US" sz="4000" dirty="0">
                <a:hlinkClick r:id="rId4" tooltip="New York City"/>
              </a:rPr>
              <a:t>New York City</a:t>
            </a:r>
            <a:endParaRPr lang="en-US" sz="4000" dirty="0"/>
          </a:p>
          <a:p>
            <a:r>
              <a:rPr lang="en-US" sz="4000" dirty="0"/>
              <a:t>October 17, 1956</a:t>
            </a:r>
          </a:p>
          <a:p>
            <a:r>
              <a:rPr lang="en-US" sz="4000" dirty="0"/>
              <a:t>Very Brief View</a:t>
            </a:r>
          </a:p>
          <a:p>
            <a:pPr algn="r"/>
            <a:endParaRPr lang="en-US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D718B-3EEC-6832-6CEE-97979EC21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CE44-14AA-407B-9781-80C2DD8F374A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04A21-9032-6028-3497-6648F9E8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12F9A7-0E58-AA20-7843-9B0047C7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17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D58C3-6ABE-7100-CE32-B0FDA15F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368CB-2E24-DAC8-7351-9E82FF4C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FF4E2-7174-2AFA-59C7-475D272E1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BC5CCF-B57F-73EB-C4CB-8C2617649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301" y="0"/>
            <a:ext cx="61973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26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A6139-8E9E-6842-DCA4-7F2C678A9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DC0D9-5577-ADE1-A4D7-39AAAB30B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069D6-E5C1-828E-64B7-C0632B96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C1420-873F-938E-9DB4-C4FEF7D6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C5DFF9-0343-BAD2-66D2-86973F126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349" y="0"/>
            <a:ext cx="6113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46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18640-1213-5DD1-DB49-5CCA8BF6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2551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Game of the Century – Portable Game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3756-4727-E841-F7CE-3DA9E062E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9255"/>
            <a:ext cx="8596668" cy="45121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[Event "Third Rosenwald Trophy"]</a:t>
            </a:r>
          </a:p>
          <a:p>
            <a:pPr marL="0" indent="0">
              <a:buNone/>
            </a:pPr>
            <a:r>
              <a:rPr lang="en-US" sz="2000" dirty="0"/>
              <a:t>[Site "New York, NY USA"]</a:t>
            </a:r>
          </a:p>
          <a:p>
            <a:pPr marL="0" indent="0">
              <a:buNone/>
            </a:pPr>
            <a:r>
              <a:rPr lang="en-US" sz="2000" dirty="0"/>
              <a:t>[Date "1956.10.17"]</a:t>
            </a:r>
          </a:p>
          <a:p>
            <a:pPr marL="0" indent="0">
              <a:buNone/>
            </a:pPr>
            <a:r>
              <a:rPr lang="en-US" sz="2000" dirty="0"/>
              <a:t>[EventDate "1956.10.07"]</a:t>
            </a:r>
          </a:p>
          <a:p>
            <a:pPr marL="0" indent="0">
              <a:buNone/>
            </a:pPr>
            <a:r>
              <a:rPr lang="en-US" sz="2000" dirty="0"/>
              <a:t>[Round "8"]</a:t>
            </a:r>
          </a:p>
          <a:p>
            <a:pPr marL="0" indent="0">
              <a:buNone/>
            </a:pPr>
            <a:r>
              <a:rPr lang="en-US" sz="2000" dirty="0"/>
              <a:t>[Result "0-1"]</a:t>
            </a:r>
          </a:p>
          <a:p>
            <a:pPr marL="0" indent="0">
              <a:buNone/>
            </a:pPr>
            <a:r>
              <a:rPr lang="en-US" sz="2000" dirty="0"/>
              <a:t>[White "Donald Byrne"]</a:t>
            </a:r>
          </a:p>
          <a:p>
            <a:pPr marL="0" indent="0">
              <a:buNone/>
            </a:pPr>
            <a:r>
              <a:rPr lang="en-US" sz="2000" dirty="0"/>
              <a:t>[Black "Robert James Fischer"]</a:t>
            </a:r>
          </a:p>
          <a:p>
            <a:pPr marL="0" indent="0">
              <a:buNone/>
            </a:pPr>
            <a:r>
              <a:rPr lang="en-US" sz="2000" dirty="0"/>
              <a:t>[Result "0-1"]</a:t>
            </a:r>
          </a:p>
          <a:p>
            <a:pPr marL="0" indent="0">
              <a:buNone/>
            </a:pPr>
            <a:r>
              <a:rPr lang="en-US" sz="2000" dirty="0"/>
              <a:t>[WhiteElo ""]</a:t>
            </a:r>
          </a:p>
          <a:p>
            <a:pPr marL="0" indent="0">
              <a:buNone/>
            </a:pPr>
            <a:r>
              <a:rPr lang="en-US" sz="2000" dirty="0"/>
              <a:t>[BlackElo ""]</a:t>
            </a:r>
          </a:p>
          <a:p>
            <a:pPr marL="0" indent="0">
              <a:buNone/>
            </a:pPr>
            <a:r>
              <a:rPr lang="en-US" sz="2000" dirty="0"/>
              <a:t>[ECO "D97"]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662C3-120D-942B-5C53-308DBE2B3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7E836-D938-B001-B999-3FCD17FBC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68999-BBF5-F828-0E21-19AB4919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39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2F4F8-7457-7E68-C111-070B0CFBC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98439-90E1-E716-BA38-E530B13D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51513"/>
            <a:ext cx="8596668" cy="68360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Game of the Century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25535-D4A9-A874-7CEC-B8217EBB9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669" y="1135118"/>
            <a:ext cx="10310648" cy="49062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/>
              <a:t>1.Nf3 Nf6 2.c4 g6 3.Nc3 Bg7 4.d4 O-O 5.Bf4 d5 6.Qb3 dxc4 7.Qxc4 c6 8.e4 Nbd7</a:t>
            </a:r>
          </a:p>
          <a:p>
            <a:pPr marL="0" indent="0">
              <a:buNone/>
            </a:pPr>
            <a:r>
              <a:rPr lang="en-US" sz="2600" dirty="0"/>
              <a:t>9.Rd1 Nb6 10.Qc5 Bg4 11.Bg5 Na4 12.Qa3 Nxc3 13.bxc3 Nxe4 14.Bxe7 Qb6 15.Bc4 Nxc3</a:t>
            </a:r>
          </a:p>
          <a:p>
            <a:pPr marL="0" indent="0">
              <a:buNone/>
            </a:pPr>
            <a:r>
              <a:rPr lang="en-US" sz="2600" dirty="0"/>
              <a:t>16.Bc5 Rfe8+ 17.Kf1 Be6 18.Bxb6 Bxc4+ 19.Kg1 Ne2+ 20.Kf1 Nxd4+ 21.Kg1 Ne2+</a:t>
            </a:r>
          </a:p>
          <a:p>
            <a:pPr marL="0" indent="0">
              <a:buNone/>
            </a:pPr>
            <a:r>
              <a:rPr lang="en-US" sz="2600" dirty="0"/>
              <a:t>22.Kf1 Nc3+ 23.Kg1 axb6 24.Qb4 Ra4 25.Qxb6 Nxd1 26.h3 Rxa2 27.Kh2 Nxf2 28.Re1 Rxe1</a:t>
            </a:r>
          </a:p>
          <a:p>
            <a:pPr marL="0" indent="0">
              <a:buNone/>
            </a:pPr>
            <a:r>
              <a:rPr lang="en-US" sz="2600" dirty="0"/>
              <a:t>29.Qd8+ Bf8 30.Nxe1 Bd5 31.Nf3 Ne4 32.Qb8 b5 33.h4 h5 34.Ne5 Kg7 35.Kg1 Bc5+</a:t>
            </a:r>
          </a:p>
          <a:p>
            <a:pPr marL="0" indent="0">
              <a:buNone/>
            </a:pPr>
            <a:r>
              <a:rPr lang="en-US" sz="2600" dirty="0"/>
              <a:t>36.Kf1 Ng3+ 37.Ke1 Bb4+ 38.Kd1 Bb3+ 39.Kc1 Ne2+ 40.Kb1 Nc3+ 41.Kc1 Rc2+  0-1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BE716-A7EE-59E0-E8D9-40EDD868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312F5-B5A6-39E6-B03C-8042C249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9BD93-2B17-6401-34DA-B01052EBC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751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78366-C29C-6950-4392-0ECACC2B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2296-CE32-F035-49B6-287613338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1CD2F-F7D3-5BC8-8E18-DCA23F001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3477"/>
            <a:ext cx="9078507" cy="4447886"/>
          </a:xfrm>
        </p:spPr>
        <p:txBody>
          <a:bodyPr>
            <a:normAutofit/>
          </a:bodyPr>
          <a:lstStyle/>
          <a:p>
            <a:r>
              <a:rPr lang="en-US" sz="4000" dirty="0"/>
              <a:t>Display – Board, Chess Pieces, Menu</a:t>
            </a:r>
          </a:p>
          <a:p>
            <a:r>
              <a:rPr lang="en-US" sz="4000" dirty="0"/>
              <a:t>Game display – move, unmove</a:t>
            </a:r>
          </a:p>
          <a:p>
            <a:r>
              <a:rPr lang="en-US" sz="4000" dirty="0"/>
              <a:t>Interpret notation – Nf3, c4, …</a:t>
            </a:r>
          </a:p>
          <a:p>
            <a:r>
              <a:rPr lang="en-US" sz="4000" dirty="0"/>
              <a:t>Portable Game Notation - PGN</a:t>
            </a:r>
          </a:p>
          <a:p>
            <a:r>
              <a:rPr lang="en-US" sz="4000" dirty="0"/>
              <a:t>Forsyth-Edwards Notation - FEN 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7A35A-AB17-354B-2B4F-1058A7A0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CE44-14AA-407B-9781-80C2DD8F374A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F5AC-66CE-05FE-8D36-FA6E76C8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BF8D74-ECA1-D8B5-3DFB-5BE623E6A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5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EA2CA-EAF4-7025-E284-1F925ED3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9704-4659-C3C4-60CA-5DEE8805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Chess Move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12EBB-886B-00BB-1EF5-F0E667BFA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3477"/>
            <a:ext cx="9396833" cy="4447886"/>
          </a:xfrm>
        </p:spPr>
        <p:txBody>
          <a:bodyPr>
            <a:normAutofit/>
          </a:bodyPr>
          <a:lstStyle/>
          <a:p>
            <a:r>
              <a:rPr lang="en-US" sz="4000" dirty="0"/>
              <a:t>Record chess moves</a:t>
            </a:r>
          </a:p>
          <a:p>
            <a:r>
              <a:rPr lang="en-US" sz="4000" dirty="0"/>
              <a:t>Saving games</a:t>
            </a:r>
          </a:p>
          <a:p>
            <a:r>
              <a:rPr lang="en-US" sz="4000" dirty="0"/>
              <a:t>Recovering games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64D4E-FAA8-A8C4-9450-23B3B3223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CE44-14AA-407B-9781-80C2DD8F374A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57C91-95BB-C255-08DE-BB811E7D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7D0BFA6-47F3-62D6-6284-079D700C3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83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17F5C-EF20-898B-3F4C-D1A2774D3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C4DA-9DBC-6F2F-E961-3106561D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Chess Move Notation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FB94F-2110-F369-914B-103CD10A9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3476"/>
            <a:ext cx="9396833" cy="4447886"/>
          </a:xfrm>
        </p:spPr>
        <p:txBody>
          <a:bodyPr>
            <a:normAutofit/>
          </a:bodyPr>
          <a:lstStyle/>
          <a:p>
            <a:r>
              <a:rPr lang="en-US" sz="4000" i="1" dirty="0"/>
              <a:t>Move, Piece</a:t>
            </a:r>
            <a:r>
              <a:rPr lang="en-US" sz="4000" dirty="0"/>
              <a:t>, </a:t>
            </a:r>
            <a:r>
              <a:rPr lang="en-US" sz="4000" i="1" dirty="0"/>
              <a:t>Destination e.g., 1. Nf3</a:t>
            </a:r>
          </a:p>
          <a:p>
            <a:r>
              <a:rPr lang="en-US" sz="4000" i="1" dirty="0"/>
              <a:t>Pieces: </a:t>
            </a:r>
            <a:r>
              <a:rPr lang="en-US" sz="4000" b="1" dirty="0"/>
              <a:t>K</a:t>
            </a:r>
            <a:r>
              <a:rPr lang="en-US" sz="4000" dirty="0"/>
              <a:t>ing</a:t>
            </a:r>
            <a:r>
              <a:rPr lang="en-US" sz="4000" i="1" dirty="0"/>
              <a:t> </a:t>
            </a:r>
            <a:r>
              <a:rPr lang="en-US" sz="4000" b="1" dirty="0"/>
              <a:t>Q</a:t>
            </a:r>
            <a:r>
              <a:rPr lang="en-US" sz="4000" dirty="0"/>
              <a:t>ueen</a:t>
            </a:r>
            <a:r>
              <a:rPr lang="en-US" sz="4000" i="1" dirty="0"/>
              <a:t> </a:t>
            </a:r>
            <a:r>
              <a:rPr lang="en-US" sz="4000" b="1" dirty="0"/>
              <a:t>B</a:t>
            </a:r>
            <a:r>
              <a:rPr lang="en-US" sz="4000" dirty="0"/>
              <a:t>iship</a:t>
            </a:r>
            <a:r>
              <a:rPr lang="en-US" sz="4000" i="1" dirty="0"/>
              <a:t> </a:t>
            </a:r>
            <a:r>
              <a:rPr lang="en-US" sz="4000" dirty="0"/>
              <a:t>k</a:t>
            </a:r>
            <a:r>
              <a:rPr lang="en-US" sz="4000" b="1" dirty="0"/>
              <a:t>N</a:t>
            </a:r>
            <a:r>
              <a:rPr lang="en-US" sz="4000" dirty="0"/>
              <a:t>ight</a:t>
            </a:r>
            <a:r>
              <a:rPr lang="en-US" sz="4000" i="1" dirty="0"/>
              <a:t> </a:t>
            </a:r>
            <a:r>
              <a:rPr lang="en-US" sz="4000" b="1" dirty="0"/>
              <a:t>R</a:t>
            </a:r>
            <a:r>
              <a:rPr lang="en-US" sz="4000" dirty="0"/>
              <a:t>ook </a:t>
            </a:r>
            <a:r>
              <a:rPr lang="en-US" sz="4000" b="1" dirty="0"/>
              <a:t>P</a:t>
            </a:r>
            <a:r>
              <a:rPr lang="en-US" sz="4000" dirty="0"/>
              <a:t>awn (usually P is omitted)</a:t>
            </a:r>
          </a:p>
          <a:p>
            <a:r>
              <a:rPr lang="en-US" sz="4000" dirty="0"/>
              <a:t>Destination: file(column), rank(row)</a:t>
            </a:r>
          </a:p>
          <a:p>
            <a:pPr marL="457200" lvl="1" indent="0">
              <a:buNone/>
            </a:pPr>
            <a:r>
              <a:rPr lang="en-US" sz="3800" dirty="0"/>
              <a:t>1. Nf3  - White Knight move to square  at file-f, rank-3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38594-7643-4BE9-2263-F7E98600E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CE44-14AA-407B-9781-80C2DD8F374A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93BE1-47C1-5E08-FA42-55E877159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5BCE79-8BF0-2AE7-CB54-FCF1302C6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32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7715-6AF9-EB12-7F23-D78B7E90C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89F50-8F9C-1391-D64F-E4A2F50D5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Chess Move Notation </a:t>
            </a:r>
            <a:r>
              <a:rPr lang="en-US" sz="2400" dirty="0"/>
              <a:t>-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D5F06-BC8E-C1FD-0B5A-211032AB9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3477"/>
            <a:ext cx="9396833" cy="4447886"/>
          </a:xfrm>
        </p:spPr>
        <p:txBody>
          <a:bodyPr>
            <a:normAutofit/>
          </a:bodyPr>
          <a:lstStyle/>
          <a:p>
            <a:r>
              <a:rPr lang="en-US" sz="4000" dirty="0"/>
              <a:t>Piece must be unambiguous</a:t>
            </a:r>
          </a:p>
          <a:p>
            <a:r>
              <a:rPr lang="en-US" sz="4000" dirty="0"/>
              <a:t>Ambiguity solved by modifiers</a:t>
            </a:r>
          </a:p>
          <a:p>
            <a:pPr marL="457200" lvl="1" indent="0">
              <a:buNone/>
            </a:pPr>
            <a:r>
              <a:rPr lang="en-US" sz="3800" dirty="0"/>
              <a:t>16… Rfe8+  Black’s 16 move - Rook on the f-file to square e8 with check (Not the black rook on the a-file)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34649-10D2-3A1B-A53E-0231768AE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CE44-14AA-407B-9781-80C2DD8F374A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8E895-DF8D-9DF3-7D3F-02755157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AC443B9-3947-4B87-6ABC-18C425AB5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0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14EA-492F-C973-D890-69F069F7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0E87-8A23-017C-86BC-91DD44813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Chess Interpretation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F0356-FE6A-C114-7379-E40A723B8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3477"/>
            <a:ext cx="9396833" cy="4447886"/>
          </a:xfrm>
        </p:spPr>
        <p:txBody>
          <a:bodyPr>
            <a:normAutofit/>
          </a:bodyPr>
          <a:lstStyle/>
          <a:p>
            <a:r>
              <a:rPr lang="en-US" sz="3800" dirty="0"/>
              <a:t>Notation Parsing </a:t>
            </a:r>
          </a:p>
          <a:p>
            <a:pPr lvl="1"/>
            <a:r>
              <a:rPr lang="en-US" sz="3600" dirty="0"/>
              <a:t>Movement spec -&gt; piece + destination</a:t>
            </a:r>
          </a:p>
          <a:p>
            <a:r>
              <a:rPr lang="en-US" sz="3800" dirty="0"/>
              <a:t>	Locate piece(s)</a:t>
            </a:r>
          </a:p>
          <a:p>
            <a:r>
              <a:rPr lang="en-US" sz="3800" dirty="0"/>
              <a:t>Resolve ambiguities</a:t>
            </a:r>
          </a:p>
          <a:p>
            <a:r>
              <a:rPr lang="en-US" sz="3800" dirty="0"/>
              <a:t>Recognize invalid moves</a:t>
            </a:r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87082-D6DF-BC74-215C-536A19BB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CE44-14AA-407B-9781-80C2DD8F374A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EC657-53F4-40C8-94D3-9C11C401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4EB9F04-AFA4-B663-F5B3-B79DD3A24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00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6FA7B-6556-9641-CE0C-8FB04199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6FB5-22F3-02AC-F03F-7D113C8D5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049991" cy="1320800"/>
          </a:xfrm>
        </p:spPr>
        <p:txBody>
          <a:bodyPr>
            <a:normAutofit/>
          </a:bodyPr>
          <a:lstStyle/>
          <a:p>
            <a:r>
              <a:rPr lang="en-US" sz="4000" dirty="0"/>
              <a:t>Chess Move Notation – Example: 1. Nf3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F6F65-5BA1-8BD8-C2C8-009B545DC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3477"/>
            <a:ext cx="9396833" cy="4447886"/>
          </a:xfrm>
        </p:spPr>
        <p:txBody>
          <a:bodyPr>
            <a:normAutofit/>
          </a:bodyPr>
          <a:lstStyle/>
          <a:p>
            <a:r>
              <a:rPr lang="en-US" sz="3800" dirty="0"/>
              <a:t>Parse 1. Nf3 into white knight moving to square f3</a:t>
            </a:r>
          </a:p>
          <a:p>
            <a:r>
              <a:rPr lang="en-US" sz="3800" dirty="0"/>
              <a:t>Determine white knight (at g1) is the one and  only white knight that can move to f3</a:t>
            </a:r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BA7F9-F106-D735-3A09-8D9CB6A9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CE44-14AA-407B-9781-80C2DD8F374A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AFB29-A179-E1C8-A86F-BFC0B540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0D770E-4F7D-21C8-8862-1F39E228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45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B5E45-A2BB-24B6-7ADE-021D5E73D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1556-5BF1-ECB6-830B-3C9B314C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049991" cy="1320800"/>
          </a:xfrm>
        </p:spPr>
        <p:txBody>
          <a:bodyPr>
            <a:normAutofit/>
          </a:bodyPr>
          <a:lstStyle/>
          <a:p>
            <a:r>
              <a:rPr lang="en-US" sz="4000" dirty="0"/>
              <a:t>Chess Move Notation - Disambiguation </a:t>
            </a:r>
            <a:br>
              <a:rPr lang="en-US" sz="4000" dirty="0"/>
            </a:br>
            <a:r>
              <a:rPr lang="en-US" sz="4000" dirty="0"/>
              <a:t>– Example: 16… Rfe8+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D9E91-98B7-3FD2-3300-993AC2011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930399"/>
            <a:ext cx="9396833" cy="4110963"/>
          </a:xfrm>
        </p:spPr>
        <p:txBody>
          <a:bodyPr>
            <a:normAutofit/>
          </a:bodyPr>
          <a:lstStyle/>
          <a:p>
            <a:r>
              <a:rPr lang="en-US" sz="3800" dirty="0"/>
              <a:t>Parse 16… Rfe8+ into black rook in file-f to square e8 with check</a:t>
            </a:r>
          </a:p>
          <a:p>
            <a:r>
              <a:rPr lang="en-US" sz="3800" dirty="0"/>
              <a:t>Determine that the only black rook in the file-f that can move to e8 is </a:t>
            </a:r>
            <a:r>
              <a:rPr lang="en-US" sz="3800"/>
              <a:t>the rook </a:t>
            </a:r>
            <a:r>
              <a:rPr lang="en-US" sz="3800" dirty="0"/>
              <a:t>starting in c8</a:t>
            </a:r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72999-BCC9-38B5-856F-182A07F22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CE44-14AA-407B-9781-80C2DD8F374A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26D8-3C90-06E0-BCD7-73BE78C6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2581CD-A02E-912F-9B79-6A32599D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98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00116-AD8E-DD7A-25E9-EE712F072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D30E5-AB7B-B947-6594-D1C9939E5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9655"/>
          </a:xfrm>
        </p:spPr>
        <p:txBody>
          <a:bodyPr/>
          <a:lstStyle/>
          <a:p>
            <a:r>
              <a:rPr lang="en-US" dirty="0"/>
              <a:t> Finding Piece Requires Move Knowledge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51C07-1704-64E1-6155-781E5266C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Find piece(s) specified by move</a:t>
            </a:r>
          </a:p>
          <a:p>
            <a:r>
              <a:rPr lang="en-US" sz="3600" dirty="0"/>
              <a:t>What piece can reach destination?</a:t>
            </a:r>
          </a:p>
          <a:p>
            <a:r>
              <a:rPr lang="en-US" sz="3600" dirty="0"/>
              <a:t>What squares can each legally reach?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9537A-E459-262A-D23E-2A7D0399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C34D-9BD3-2B74-85EA-16C72A205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8033B-B43E-35F1-BFFF-21784FD9C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65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C0940-C4C9-DEC3-6FF4-791B4C5E4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2615-905F-DC5E-4772-C84228658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9655"/>
          </a:xfrm>
        </p:spPr>
        <p:txBody>
          <a:bodyPr>
            <a:normAutofit fontScale="90000"/>
          </a:bodyPr>
          <a:lstStyle/>
          <a:p>
            <a:r>
              <a:rPr lang="en-US" dirty="0"/>
              <a:t> How the Pieces Move (in computer eyes)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9AC03-B76E-8611-E55D-A43685EBC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600" dirty="0"/>
              <a:t>Handle ALL pieces, ALL places</a:t>
            </a:r>
          </a:p>
          <a:p>
            <a:endParaRPr lang="en-US" sz="3600" dirty="0"/>
          </a:p>
          <a:p>
            <a:r>
              <a:rPr lang="en-US" sz="3600" dirty="0"/>
              <a:t>Q,B,R – One or more squares in same direction</a:t>
            </a:r>
          </a:p>
          <a:p>
            <a:r>
              <a:rPr lang="en-US" sz="3600" dirty="0"/>
              <a:t>K - one square</a:t>
            </a:r>
          </a:p>
          <a:p>
            <a:r>
              <a:rPr lang="en-US" sz="3600" dirty="0"/>
              <a:t>N – One jump</a:t>
            </a:r>
          </a:p>
          <a:p>
            <a:r>
              <a:rPr lang="en-US" sz="3600" dirty="0"/>
              <a:t>P – One or Two (optional on first)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4F728-B363-6BFB-695D-141BD2C1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56E03-F811-30DE-30AF-3CD87192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245A5-13CF-0BFF-8415-93D63F180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93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A6AB6-45D7-F0A0-7CEE-B0367677A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4005-840E-B349-05C4-F38CF8936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9655"/>
          </a:xfrm>
        </p:spPr>
        <p:txBody>
          <a:bodyPr>
            <a:normAutofit fontScale="90000"/>
          </a:bodyPr>
          <a:lstStyle/>
          <a:p>
            <a:r>
              <a:rPr lang="en-US" dirty="0"/>
              <a:t> How the Pieces Move (in computer eyes)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A724E-E66D-3CBA-CC00-B7A53C1CA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07" y="1529255"/>
            <a:ext cx="9601200" cy="4512107"/>
          </a:xfrm>
        </p:spPr>
        <p:txBody>
          <a:bodyPr>
            <a:normAutofit/>
          </a:bodyPr>
          <a:lstStyle/>
          <a:p>
            <a:r>
              <a:rPr lang="en-US" sz="3600" dirty="0"/>
              <a:t>Move/Capture in a direction</a:t>
            </a:r>
          </a:p>
          <a:p>
            <a:r>
              <a:rPr lang="en-US" sz="3600" dirty="0"/>
              <a:t> Move directions, as number pairs</a:t>
            </a:r>
          </a:p>
          <a:p>
            <a:pPr marL="8001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(-1,1)  (0,1)  (1,1)</a:t>
            </a:r>
          </a:p>
          <a:p>
            <a:pPr marL="8001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(-1,0)  </a:t>
            </a:r>
            <a:r>
              <a:rPr lang="en-US" sz="32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piece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(1,0)</a:t>
            </a:r>
          </a:p>
          <a:p>
            <a:pPr marL="8001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(-1,-1) (0,-1) (1,-1)</a:t>
            </a:r>
          </a:p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</a:rPr>
              <a:t>(-:left, 0:same, +:right, -:down, 0:same, +:up)</a:t>
            </a:r>
          </a:p>
          <a:p>
            <a:pPr marL="457200" indent="-457200"/>
            <a:r>
              <a:rPr lang="en-US" sz="3600" dirty="0"/>
              <a:t>Arithmetic calculates destinations</a:t>
            </a:r>
          </a:p>
          <a:p>
            <a:pPr marL="800100" lvl="2" indent="0">
              <a:buNone/>
            </a:pP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D7575-DB95-D1B9-970F-D17F1AEE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CA130-7166-B530-51DB-143C46A1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B6B92-1060-278C-DB8A-FCC28144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085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9300A-91D4-0213-0591-8BCCA96D6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49CF-42A2-5BFB-1662-DA26C66EF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9655"/>
          </a:xfrm>
        </p:spPr>
        <p:txBody>
          <a:bodyPr/>
          <a:lstStyle/>
          <a:p>
            <a:r>
              <a:rPr lang="en-US" dirty="0"/>
              <a:t> Pawn Move Direction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EEDB6-69A7-D882-E9BB-9784EDB8F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081521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dirty="0"/>
              <a:t> </a:t>
            </a:r>
            <a:r>
              <a:rPr lang="en-US" sz="3600" dirty="0">
                <a:solidFill>
                  <a:schemeClr val="accent1"/>
                </a:solidFill>
              </a:rPr>
              <a:t>pawn – list of directions: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 Third entry for </a:t>
            </a:r>
            <a:r>
              <a:rPr lang="en-US" sz="3600" dirty="0">
                <a:solidFill>
                  <a:schemeClr val="accent2"/>
                </a:solidFill>
              </a:rPr>
              <a:t>move</a:t>
            </a:r>
            <a:r>
              <a:rPr lang="en-US" sz="3600" dirty="0">
                <a:solidFill>
                  <a:schemeClr val="accent1"/>
                </a:solidFill>
              </a:rPr>
              <a:t> /</a:t>
            </a:r>
            <a:r>
              <a:rPr lang="en-US" sz="3600" dirty="0">
                <a:solidFill>
                  <a:schemeClr val="accent5"/>
                </a:solidFill>
              </a:rPr>
              <a:t>capture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  </a:t>
            </a:r>
          </a:p>
          <a:p>
            <a:pPr marL="0" indent="0">
              <a:buNone/>
            </a:pPr>
            <a:r>
              <a:rPr lang="en-US" sz="3600" dirty="0"/>
              <a:t>  white:  (0,1,"</a:t>
            </a:r>
            <a:r>
              <a:rPr lang="en-US" sz="3600" dirty="0">
                <a:solidFill>
                  <a:srgbClr val="00B050"/>
                </a:solidFill>
              </a:rPr>
              <a:t>move</a:t>
            </a:r>
            <a:r>
              <a:rPr lang="en-US" sz="3600" dirty="0"/>
              <a:t>"), (-1,1, "</a:t>
            </a:r>
            <a:r>
              <a:rPr lang="en-US" sz="3600" dirty="0">
                <a:solidFill>
                  <a:schemeClr val="accent5"/>
                </a:solidFill>
              </a:rPr>
              <a:t>capture</a:t>
            </a:r>
            <a:r>
              <a:rPr lang="en-US" sz="3600" dirty="0"/>
              <a:t>")</a:t>
            </a:r>
          </a:p>
          <a:p>
            <a:pPr marL="0" indent="0">
              <a:buNone/>
            </a:pPr>
            <a:r>
              <a:rPr lang="en-US" sz="3600" dirty="0"/>
              <a:t>             (1,1,"</a:t>
            </a:r>
            <a:r>
              <a:rPr lang="en-US" sz="3600" dirty="0">
                <a:solidFill>
                  <a:schemeClr val="accent5"/>
                </a:solidFill>
              </a:rPr>
              <a:t>capture</a:t>
            </a:r>
            <a:r>
              <a:rPr lang="en-US" sz="3600" dirty="0"/>
              <a:t>")</a:t>
            </a:r>
          </a:p>
          <a:p>
            <a:pPr marL="0" indent="0">
              <a:buNone/>
            </a:pPr>
            <a:r>
              <a:rPr lang="en-US" sz="3600" dirty="0"/>
              <a:t>  black:  (0,-1,"</a:t>
            </a:r>
            <a:r>
              <a:rPr lang="en-US" sz="3600" dirty="0">
                <a:solidFill>
                  <a:schemeClr val="accent2"/>
                </a:solidFill>
              </a:rPr>
              <a:t>move</a:t>
            </a:r>
            <a:r>
              <a:rPr lang="en-US" sz="3600" dirty="0"/>
              <a:t>"), (-1,-1, "</a:t>
            </a:r>
            <a:r>
              <a:rPr lang="en-US" sz="3600" dirty="0">
                <a:solidFill>
                  <a:schemeClr val="accent5"/>
                </a:solidFill>
              </a:rPr>
              <a:t>capture</a:t>
            </a:r>
            <a:r>
              <a:rPr lang="en-US" sz="3600" dirty="0"/>
              <a:t>"),</a:t>
            </a:r>
          </a:p>
          <a:p>
            <a:pPr marL="0" indent="0">
              <a:buNone/>
            </a:pPr>
            <a:r>
              <a:rPr lang="en-US" sz="3600" dirty="0"/>
              <a:t>             (1,-1,"</a:t>
            </a:r>
            <a:r>
              <a:rPr lang="en-US" sz="3600" dirty="0">
                <a:solidFill>
                  <a:schemeClr val="accent5"/>
                </a:solidFill>
              </a:rPr>
              <a:t>capture</a:t>
            </a:r>
            <a:r>
              <a:rPr lang="en-US" sz="3600" dirty="0"/>
              <a:t>")],</a:t>
            </a:r>
          </a:p>
          <a:p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264F9-8A8F-908D-231E-B5B2AB5DE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763EC-CF35-80FC-6010-FC4821AB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E5C57-4D0C-0A4B-CDA9-59126E656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88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8471E-41DC-94CC-0E06-9BF01DCEA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8C58E-B80C-3489-C7AF-F898E8D64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9655"/>
          </a:xfrm>
        </p:spPr>
        <p:txBody>
          <a:bodyPr>
            <a:normAutofit/>
          </a:bodyPr>
          <a:lstStyle/>
          <a:p>
            <a:r>
              <a:rPr lang="en-US" dirty="0"/>
              <a:t> White Pawn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Moves</a:t>
            </a:r>
            <a:r>
              <a:rPr lang="en-US" dirty="0"/>
              <a:t> / </a:t>
            </a:r>
            <a:r>
              <a:rPr lang="en-US" dirty="0">
                <a:solidFill>
                  <a:schemeClr val="accent5"/>
                </a:solidFill>
              </a:rPr>
              <a:t>Capt</a:t>
            </a:r>
            <a:r>
              <a:rPr lang="en-US" dirty="0"/>
              <a:t>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1F27-160B-824C-567A-BE1966057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6" y="1529255"/>
            <a:ext cx="8781392" cy="4146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(-1,2)     </a:t>
            </a:r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0,2)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Move*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(1,2)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(-1,1)</a:t>
            </a:r>
            <a:r>
              <a:rPr lang="en-US" sz="3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Capt</a:t>
            </a:r>
            <a:r>
              <a:rPr lang="en-US" sz="36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0,1)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1,1)</a:t>
            </a:r>
            <a:r>
              <a:rPr lang="en-US" sz="3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Capt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(-1,0)     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White Pawn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(1,0)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(-1,-1)     (0,-1)    (1,-1)</a:t>
            </a:r>
          </a:p>
          <a:p>
            <a:pPr marL="800100" lvl="2" indent="0">
              <a:buNone/>
            </a:pPr>
            <a:r>
              <a:rPr lang="en-US" sz="3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- optional on first move</a:t>
            </a:r>
          </a:p>
          <a:p>
            <a:pPr marL="800100" lvl="2" indent="0">
              <a:buNone/>
            </a:pP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2F8D7-DA5E-5731-3EF8-562F9575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E8853-D3DD-044E-9B81-59A7151C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                     Session 2 – Building Blocks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88BD0-788B-45B2-FE37-9FD9A73D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078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8EEA6-FDE0-150B-F450-DCA155CF7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8160C-D640-83C4-E173-3973FFDBE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9655"/>
          </a:xfrm>
        </p:spPr>
        <p:txBody>
          <a:bodyPr>
            <a:normAutofit/>
          </a:bodyPr>
          <a:lstStyle/>
          <a:p>
            <a:r>
              <a:rPr lang="en-US" dirty="0"/>
              <a:t> Black Pawn </a:t>
            </a:r>
            <a:r>
              <a:rPr lang="en-US" dirty="0">
                <a:solidFill>
                  <a:schemeClr val="accent2"/>
                </a:solidFill>
              </a:rPr>
              <a:t>Moves</a:t>
            </a:r>
            <a:r>
              <a:rPr lang="en-US" dirty="0"/>
              <a:t>/</a:t>
            </a:r>
            <a:r>
              <a:rPr lang="en-US" dirty="0">
                <a:solidFill>
                  <a:schemeClr val="accent5"/>
                </a:solidFill>
              </a:rPr>
              <a:t>Capt</a:t>
            </a:r>
            <a:r>
              <a:rPr lang="en-US" dirty="0"/>
              <a:t>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0C9C4-64FF-CC23-1E78-B3A9DB356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9255"/>
            <a:ext cx="9538138" cy="4512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(-1,1)      (0,1)       (1,1)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(-1,0)     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Black Pawn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(1,0)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(-1,-1)</a:t>
            </a:r>
            <a:r>
              <a:rPr lang="en-US" sz="3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Capt </a:t>
            </a:r>
            <a:r>
              <a:rPr lang="en-US" sz="3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(0,-1)</a:t>
            </a:r>
            <a:r>
              <a:rPr lang="en-US" sz="3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en-US" sz="3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3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(1,-1)</a:t>
            </a:r>
            <a:r>
              <a:rPr lang="en-US" sz="3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Capt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(-1,-2)     </a:t>
            </a:r>
            <a:r>
              <a:rPr lang="en-US" sz="3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(0,-2)</a:t>
            </a:r>
            <a:r>
              <a:rPr lang="en-US" sz="3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Move* </a:t>
            </a:r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(1,-2)</a:t>
            </a:r>
          </a:p>
          <a:p>
            <a:pPr marL="400050" lvl="1" indent="0">
              <a:buNone/>
            </a:pPr>
            <a:r>
              <a:rPr lang="en-US" sz="3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- optional on first move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9A661-00FC-C7F6-0D7E-9060CA3C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CE49-8276-6E6E-6EDB-76611368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06546-DBAF-B477-3679-0DE81872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3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448D-772E-6962-35E6-197D7724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9655"/>
          </a:xfrm>
        </p:spPr>
        <p:txBody>
          <a:bodyPr/>
          <a:lstStyle/>
          <a:p>
            <a:r>
              <a:rPr lang="en-US" dirty="0"/>
              <a:t> More Piece Direction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29FC1-7551-818F-30F3-BEB638CAF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9255"/>
            <a:ext cx="8596668" cy="45121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2800" dirty="0"/>
              <a:t>Knight: Only one jump of</a:t>
            </a:r>
          </a:p>
          <a:p>
            <a:pPr marL="0" indent="0">
              <a:buNone/>
            </a:pPr>
            <a:r>
              <a:rPr lang="en-US" sz="2800" dirty="0"/>
              <a:t>			(1,2), (2,1), (2,-1), (1,-2),</a:t>
            </a:r>
          </a:p>
          <a:p>
            <a:pPr marL="0" indent="0">
              <a:buNone/>
            </a:pPr>
            <a:r>
              <a:rPr lang="en-US" sz="2800" dirty="0"/>
              <a:t>              (-1,-2), (-2,-1), (-2,1), (-1,2)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Rest: Can be any length in direction</a:t>
            </a:r>
          </a:p>
          <a:p>
            <a:pPr marL="0" indent="0">
              <a:buNone/>
            </a:pPr>
            <a:r>
              <a:rPr lang="en-US" sz="2800" dirty="0"/>
              <a:t> Bishop: (1,1), (1,-1), (-1,-1), (-1,1)</a:t>
            </a:r>
          </a:p>
          <a:p>
            <a:pPr marL="0" indent="0">
              <a:buNone/>
            </a:pPr>
            <a:r>
              <a:rPr lang="en-US" sz="2800" dirty="0"/>
              <a:t> Rook: (0,1), (1,0), (0,-1), (-1,0)</a:t>
            </a:r>
          </a:p>
          <a:p>
            <a:pPr marL="0" indent="0">
              <a:buNone/>
            </a:pPr>
            <a:r>
              <a:rPr lang="en-US" sz="2800" dirty="0"/>
              <a:t>Queen:  Rook  + Bishop</a:t>
            </a:r>
          </a:p>
          <a:p>
            <a:pPr marL="0" indent="0">
              <a:buNone/>
            </a:pPr>
            <a:r>
              <a:rPr lang="en-US" sz="2800" dirty="0"/>
              <a:t>King: =    Queen, only 1 square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701C6-142B-6843-C8E3-87CF424B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ADD2F-A6A2-D693-3030-059512318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A8243-F5B7-05E9-F08A-3E1E49BD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139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D12F3-B9D2-83CC-B2CE-5D5692F7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BC97-D03B-90E3-89A8-37AC7CBDA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9655"/>
          </a:xfrm>
        </p:spPr>
        <p:txBody>
          <a:bodyPr/>
          <a:lstStyle/>
          <a:p>
            <a:r>
              <a:rPr lang="en-US" dirty="0"/>
              <a:t> Find possible piece’s destinations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3ED59-C98B-ECCE-4825-7A7D5DE7B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9255"/>
            <a:ext cx="8596668" cy="45121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Very simplified algorithm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3600" dirty="0">
                <a:solidFill>
                  <a:schemeClr val="accent1"/>
                </a:solidFill>
              </a:rPr>
              <a:t>For each direction in piece’s list: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Repeat with current direction: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	Look in direction, to new square</a:t>
            </a:r>
          </a:p>
          <a:p>
            <a:pPr marL="914400" lvl="2" indent="0">
              <a:buNone/>
            </a:pPr>
            <a:r>
              <a:rPr lang="en-US" sz="3400" dirty="0">
                <a:solidFill>
                  <a:schemeClr val="accent1"/>
                </a:solidFill>
              </a:rPr>
              <a:t>If obstacle [board edge, our color piece, in check]: </a:t>
            </a:r>
            <a:r>
              <a:rPr lang="en-US" sz="3200" dirty="0">
                <a:solidFill>
                  <a:schemeClr val="accent1"/>
                </a:solidFill>
              </a:rPr>
              <a:t> Go to next direction</a:t>
            </a:r>
          </a:p>
          <a:p>
            <a:pPr marL="914400" lvl="2" indent="0">
              <a:buNone/>
            </a:pPr>
            <a:r>
              <a:rPr lang="en-US" sz="3400" dirty="0">
                <a:solidFill>
                  <a:schemeClr val="accent1"/>
                </a:solidFill>
              </a:rPr>
              <a:t>Add square to destination list</a:t>
            </a:r>
          </a:p>
          <a:p>
            <a:pPr marL="914400" lvl="2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If capture: Go to next direction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401A6-7372-644B-08FC-EF33493F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5D51E-C246-FC3A-7654-C1A527181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FE575-60E3-CB2D-E0B7-2FC96D73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04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4228B-5243-00E4-B56F-A23E2FE4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07F0-4949-4EDC-A592-6ECEEFF5A03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EA610-00EB-EA7A-F25E-5BF0F31AF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D3242-EF5C-FF50-B394-F4BE80817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B7A115-41A8-A23F-BB59-7DDD2749B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13" y="0"/>
            <a:ext cx="6192774" cy="6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6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9C39FE-31B9-52A2-5269-0EB66D0A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Destination squares after 16. Bc5</a:t>
            </a:r>
            <a:br>
              <a:rPr lang="en-US" dirty="0"/>
            </a:br>
            <a:r>
              <a:rPr lang="en-US" dirty="0"/>
              <a:t>for Rook at F8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B596F4-9C52-73D1-825B-B95E6E35C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(move direction): square - result</a:t>
            </a:r>
          </a:p>
          <a:p>
            <a:r>
              <a:rPr lang="en-US" sz="2800" dirty="0"/>
              <a:t>(-1,0): e8, (-1,0): d8, (-1,0): c8, (-1,0): b8 (-1,0): a8 - obstacle: our color piece</a:t>
            </a:r>
          </a:p>
          <a:p>
            <a:r>
              <a:rPr lang="en-US" sz="2800" dirty="0"/>
              <a:t>Destination list: e8, d8, c8, c8, b8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09BEF5-825D-2520-80C5-9313DAD9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B85-6381-4843-915E-A80D8CF566B9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55A215-0EEC-7189-78E9-F2F35F76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DD355-535D-D950-4741-34AE762C5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40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5"/>
            <a:ext cx="8596668" cy="1320800"/>
          </a:xfrm>
        </p:spPr>
        <p:txBody>
          <a:bodyPr>
            <a:normAutofit/>
          </a:bodyPr>
          <a:lstStyle/>
          <a:p>
            <a:r>
              <a:rPr lang="en-US" sz="6600" dirty="0"/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1550-E13A-47A9-8AAC-51D029CF9A7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                     Session 2 – Building Blocks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0113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70439</TotalTime>
  <Words>1739</Words>
  <Application>Microsoft Office PowerPoint</Application>
  <PresentationFormat>Widescreen</PresentationFormat>
  <Paragraphs>278</Paragraphs>
  <Slides>27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Courier New</vt:lpstr>
      <vt:lpstr>Trebuchet MS</vt:lpstr>
      <vt:lpstr>Wingdings 3</vt:lpstr>
      <vt:lpstr>Facet</vt:lpstr>
      <vt:lpstr>Chess Display and Computers </vt:lpstr>
      <vt:lpstr>Session Objectives</vt:lpstr>
      <vt:lpstr>Chess Display</vt:lpstr>
      <vt:lpstr>Chess Display Program</vt:lpstr>
      <vt:lpstr>Program Demo</vt:lpstr>
      <vt:lpstr>PowerPoint Presentation</vt:lpstr>
      <vt:lpstr>PowerPoint Presentation</vt:lpstr>
      <vt:lpstr>Game of the Century – Portable Game Notation</vt:lpstr>
      <vt:lpstr>Game of the Century</vt:lpstr>
      <vt:lpstr>Programming Challenges</vt:lpstr>
      <vt:lpstr>Chess Move Notation</vt:lpstr>
      <vt:lpstr>Algebraic Chess Move Notation</vt:lpstr>
      <vt:lpstr>Chess Move Notation - continued</vt:lpstr>
      <vt:lpstr>Chess Interpretation Challenges</vt:lpstr>
      <vt:lpstr>Chess Move Notation – Example: 1. Nf3</vt:lpstr>
      <vt:lpstr>Chess Move Notation - Disambiguation  – Example: 16… Rfe8+</vt:lpstr>
      <vt:lpstr> Finding Piece Requires Move Knowledge</vt:lpstr>
      <vt:lpstr> How the Pieces Move (in computer eyes)</vt:lpstr>
      <vt:lpstr> How the Pieces Move (in computer eyes)</vt:lpstr>
      <vt:lpstr> Pawn Move Direction Lists</vt:lpstr>
      <vt:lpstr> White Pawn Moves / Captures</vt:lpstr>
      <vt:lpstr> Black Pawn Moves/Captures</vt:lpstr>
      <vt:lpstr> More Piece Direction Lists</vt:lpstr>
      <vt:lpstr> Find possible piece’s destinations</vt:lpstr>
      <vt:lpstr>PowerPoint Presentation</vt:lpstr>
      <vt:lpstr>Destination squares after 16. Bc5 for Rook at F8</vt:lpstr>
      <vt:lpstr>Question and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Introduction to Proramming Using Python</dc:title>
  <dc:creator>Charles Smith</dc:creator>
  <cp:lastModifiedBy>Charles Smith</cp:lastModifiedBy>
  <cp:revision>416</cp:revision>
  <cp:lastPrinted>2026-07-27T01:45:04Z</cp:lastPrinted>
  <dcterms:created xsi:type="dcterms:W3CDTF">2018-08-14T15:38:09Z</dcterms:created>
  <dcterms:modified xsi:type="dcterms:W3CDTF">2026-07-27T01:55:55Z</dcterms:modified>
</cp:coreProperties>
</file>