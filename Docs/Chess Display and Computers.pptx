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87" r:id="rId1"/>
  </p:sldMasterIdLst>
  <p:notesMasterIdLst>
    <p:notesMasterId r:id="rId30"/>
  </p:notesMasterIdLst>
  <p:handoutMasterIdLst>
    <p:handoutMasterId r:id="rId31"/>
  </p:handoutMasterIdLst>
  <p:sldIdLst>
    <p:sldId id="256" r:id="rId2"/>
    <p:sldId id="355" r:id="rId3"/>
    <p:sldId id="405" r:id="rId4"/>
    <p:sldId id="406" r:id="rId5"/>
    <p:sldId id="407" r:id="rId6"/>
    <p:sldId id="425" r:id="rId7"/>
    <p:sldId id="426" r:id="rId8"/>
    <p:sldId id="411" r:id="rId9"/>
    <p:sldId id="412" r:id="rId10"/>
    <p:sldId id="408" r:id="rId11"/>
    <p:sldId id="409" r:id="rId12"/>
    <p:sldId id="410" r:id="rId13"/>
    <p:sldId id="414" r:id="rId14"/>
    <p:sldId id="415" r:id="rId15"/>
    <p:sldId id="432" r:id="rId16"/>
    <p:sldId id="431" r:id="rId17"/>
    <p:sldId id="416" r:id="rId18"/>
    <p:sldId id="421" r:id="rId19"/>
    <p:sldId id="424" r:id="rId20"/>
    <p:sldId id="418" r:id="rId21"/>
    <p:sldId id="420" r:id="rId22"/>
    <p:sldId id="422" r:id="rId23"/>
    <p:sldId id="423" r:id="rId24"/>
    <p:sldId id="433" r:id="rId25"/>
    <p:sldId id="427" r:id="rId26"/>
    <p:sldId id="430" r:id="rId27"/>
    <p:sldId id="429" r:id="rId28"/>
    <p:sldId id="403" r:id="rId29"/>
  </p:sldIdLst>
  <p:sldSz cx="12192000" cy="6858000"/>
  <p:notesSz cx="7102475" cy="93884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harles Smith" initials="" lastIdx="0" clrIdx="0"/>
  <p:cmAuthor id="2" name="Charles Smith" initials="CS" lastIdx="3" clrIdx="1">
    <p:extLst>
      <p:ext uri="{19B8F6BF-5375-455C-9EA6-DF929625EA0E}">
        <p15:presenceInfo xmlns:p15="http://schemas.microsoft.com/office/powerpoint/2012/main" userId="1b3e2396226a364e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86" autoAdjust="0"/>
    <p:restoredTop sz="86410" autoAdjust="0"/>
  </p:normalViewPr>
  <p:slideViewPr>
    <p:cSldViewPr snapToGrid="0">
      <p:cViewPr varScale="1">
        <p:scale>
          <a:sx n="61" d="100"/>
          <a:sy n="61" d="100"/>
        </p:scale>
        <p:origin x="72" y="1488"/>
      </p:cViewPr>
      <p:guideLst/>
    </p:cSldViewPr>
  </p:slideViewPr>
  <p:outlineViewPr>
    <p:cViewPr>
      <p:scale>
        <a:sx n="33" d="100"/>
        <a:sy n="33" d="100"/>
      </p:scale>
      <p:origin x="0" y="-2363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5994"/>
    </p:cViewPr>
  </p:sorterViewPr>
  <p:notesViewPr>
    <p:cSldViewPr snapToGrid="0">
      <p:cViewPr varScale="1">
        <p:scale>
          <a:sx n="82" d="100"/>
          <a:sy n="82" d="100"/>
        </p:scale>
        <p:origin x="1128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EC30C04-DA98-43A8-9179-8EFB5DC8AA1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>
              <a:defRPr sz="1200"/>
            </a:lvl1pPr>
          </a:lstStyle>
          <a:p>
            <a:r>
              <a:rPr lang="en-US" dirty="0"/>
              <a:t>Chess Display and Computers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7B426F-EE3F-4C9A-96FF-0138D3773D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>
              <a:defRPr sz="1200"/>
            </a:lvl1pPr>
          </a:lstStyle>
          <a:p>
            <a:fld id="{71F68F6A-2B9C-4819-AC3B-6AE3589F1402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3F653D-AA42-4543-8859-17FE42335BC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>
              <a:defRPr sz="1200"/>
            </a:lvl1pPr>
          </a:lstStyle>
          <a:p>
            <a:r>
              <a:rPr lang="en-US" dirty="0"/>
              <a:t>raysmith@alum.mit.edu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08ACFE-76DD-4178-A6EF-A2913508AE3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r">
              <a:defRPr sz="1200"/>
            </a:lvl1pPr>
          </a:lstStyle>
          <a:p>
            <a:fld id="{E28DB299-B29B-4052-B9CA-268EF895069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3092935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>
              <a:defRPr sz="1200"/>
            </a:lvl1pPr>
          </a:lstStyle>
          <a:p>
            <a:r>
              <a:rPr lang="en-US" dirty="0"/>
              <a:t>Introduction to Programming using Python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>
              <a:defRPr sz="1200"/>
            </a:lvl1pPr>
          </a:lstStyle>
          <a:p>
            <a:fld id="{5397933D-7A1B-4403-8C00-DE52D8FE2162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1173163"/>
            <a:ext cx="5632450" cy="31686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518204"/>
            <a:ext cx="5681980" cy="3696712"/>
          </a:xfrm>
          <a:prstGeom prst="rect">
            <a:avLst/>
          </a:prstGeom>
        </p:spPr>
        <p:txBody>
          <a:bodyPr vert="horz" lIns="94229" tIns="47114" rIns="94229" bIns="4711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>
              <a:defRPr sz="1200"/>
            </a:lvl1pPr>
          </a:lstStyle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r">
              <a:defRPr sz="1200"/>
            </a:lvl1pPr>
          </a:lstStyle>
          <a:p>
            <a:fld id="{BA791329-992B-4F83-8435-C33B0EC26DB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551910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DC084F0E-41CF-4207-8B70-198F21418836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42618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84439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5EB08-8DAC-21D6-86A1-92DC206F0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F52DB8-2270-249F-F871-159B8A46BA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A02D4B-A683-6251-D9CD-9D440E050B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5A73E326-B64F-73A6-6982-ABB24EE62C2E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E07B2C-77EB-8015-6953-7A1D25B719EE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E48A58-F5FB-2149-68DD-0F2577C0FF2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A840A4-C253-5E31-B8A6-66C6120904D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89456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8F73A-C253-673F-F197-26EC6BE4D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2E232D-F5D0-ECAD-2101-9712385E30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C2988-6128-F19F-1EDD-EE18A5C8E1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Bobby Fisher – “Game of the Century”</a:t>
            </a:r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F531A4A9-C2AE-EEB2-A42F-0BC6C258526C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FC7191-BF40-50DB-19A1-F544D3BF0A7C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63DEA8-D5F6-2FA2-63D8-D2B6373511E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D8921E-3868-20AF-5E55-37424AFD582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8226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80067-417D-1A1D-511F-055A93062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0CC660-EF04-E0D0-B2D4-B9C6042CEE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DFA173-BBF1-1340-6C08-A77D0D0F0A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Bobby Fisher – “Game of the Century”</a:t>
            </a:r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C99D5930-7F58-D782-9319-F89B5ED5A2A6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36E18D-B0B4-14C2-17A6-6B234E8662E8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ABAA33-375C-DFB0-9CA4-2BDAAD487DE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A80970-99DA-4CE6-B18E-F7B02C162C1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69729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59B67-8859-6367-77D8-5E1DC9210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04CA4A-855D-E474-3229-F3B67FBC29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3C008B-7155-6E11-3E82-C25630B67C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BDE1896-AC70-0DD2-9B1B-AC6E452B52F3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EC6642-1B8A-857B-0169-D90BF8E21A9B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EF43DD-9726-E7E7-FFF3-4350F676B95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321622-C200-2E18-3674-B35B78341B2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02294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4067E-4349-5CA0-269D-35F8ABF8E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C8E284-FA14-8962-01BC-C85C1D2C0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2A47C3-50D9-4699-F806-4EE9E20C14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7CB038F-3FFD-E435-1D45-2D5551E07C1F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50B1D3-281A-30FA-6BA9-62C6F21E11DD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E971F0-2084-B563-7E16-E4C63131560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8A599D-1FAB-1FDD-1C31-B8581A9DB2F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63383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BF11A-EE2B-3A08-08B9-1B72CC3FB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2C8F0A-56CF-A3CC-8E39-1F40583EC1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61A7CB-52E8-F98D-6B0E-8EC0BD171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AA34B323-2A77-5FB3-8C4C-404C7B642FE0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42CE9E-558D-7B15-81BF-2CCF4B5BADF0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60376D-4034-9548-77FB-5F33807D42B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23F4D1-1311-6E22-C88C-9E471C1561C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5407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580B5-1130-1A94-C82A-CF4D68A02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CFE8CC-EC09-7070-44E6-14742E1E3A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CD631D-D45C-EE14-4945-5E4DBC7F1C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880C9714-390E-3673-5DF9-E358208C5346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64B549-604F-0CFC-F8FB-E8FD718BBC8A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05C178-319C-915C-97BF-85E4BCF314B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468222-0813-7B0C-EDD5-117C7FA26AB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56739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A0D92-2108-39CE-0A19-30208DEC9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F8F087-AE83-723F-3424-C612A57497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E958AA-B1D7-AC93-1A05-52F4EC82FF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10E01D3-43BE-1D7B-9A38-1385B2EB9C93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A5D0AE-1874-3200-28F6-A11174ADD363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F0AE1D-43EA-C8BB-7B6D-C24B41B7C09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0B6F0D-B489-4DBD-A368-DCA80173C9F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36894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F1C5B-21A3-B698-A521-3EDABE9E6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7924EE-5201-9F1B-E432-300631F318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420542-02BF-A0FD-1519-B9232FE29A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53BCE171-2978-83D8-7FC9-A030B0043B0B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89C607-B129-9FFC-9FED-F0E57B3997AE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AEC99A-A3F0-6DCC-1687-5975DFD3470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3BB619-6C5A-3E81-5B8D-10D6EF93B45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40952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B4967-581F-7965-1CD2-0857D5311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540A5F-310A-2B9B-C2AD-1F56B2DF70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4393BE-5BDC-954B-4E0D-A34E12C447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CEA7FB0-E5DE-4980-7A06-7BD8486574F8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9587F0-A22F-D89C-AD22-15A4110B2B60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DB71FC-6CF3-F9E3-D5E5-0FA9DDD1A55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81548E-94F5-F6E1-E043-75207682C7D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600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3541D-0BDC-5246-0957-11F4A5341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8A363-8159-80AA-3817-B23B8EADAB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E1ADFF-4687-7947-2A55-7A7E8D75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8218C481-0A43-19CA-5212-E3ADB77BE555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77E1AC-92A0-EC93-F8C7-77CA68EAF2A8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9E3BD3-77B0-202D-4475-BC46063E61E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EE1691-FB34-85A5-CD07-4307F8AB252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0327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 reverses up(1) with down(-1) for black</a:t>
            </a:r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US"/>
              <a:t>Introduction to Programming using Python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5397933D-7A1B-4403-8C00-DE52D8FE2162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raysmith@alum.mit.edu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41003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US"/>
              <a:t>Introduction to Programming using Python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5397933D-7A1B-4403-8C00-DE52D8FE2162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raysmith@alum.mit.edu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30722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81E0ADA2-1B64-45DB-B2E6-F6A11AB7EB98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9762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10D8A6-D61F-4DCA-82DB-6A888A9B2487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965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9014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A7F69-C248-41A3-8602-E8D54188EDB0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09919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0B086-39C4-4128-985B-FB07F33D3CF3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59352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ADCF5-0A36-4D40-B549-3F06F2B68F47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76591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9728E-A64F-4CB2-A929-EC8F77743E5A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85007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11B85-6381-4843-915E-A80D8CF566B9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3836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FA659-E42E-4DAC-9069-4C6BD9C68659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147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8F6933-E9E6-4227-B3A4-00207D316420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55281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5B04C-660C-4601-8C32-DAC504F51286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46166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95457-F83B-45BB-B822-2DF2A1FD0C27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70428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5F462-1497-413B-A43E-E69E6D8E4BEF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24680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2C08A-409D-4E56-98A3-A36D8B5C9F4C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562314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E2CF-C14A-49FB-8201-FEEF3BF16570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76404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FD04B1-0384-44B0-8537-B8F12FD50EF8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0158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F4745-C362-4373-8D92-8EF41093E018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0958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393A93-C82D-47F0-A099-2DE871639089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8320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arshall_Chess_Club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New_York_City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DA52B-07F3-428A-AE74-138A34034AC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Chess Display and Computers</a:t>
            </a:r>
            <a:br>
              <a:rPr lang="en-US" dirty="0"/>
            </a:b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2978A9-2CA9-49C2-9073-C0526E7EB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E02F-DFA0-4A0E-B523-2B95372C2781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77784B-1224-4A1C-9D1F-2F39A7613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4A865C-3D2F-422B-BE43-A53DD0E6C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raysmith@alum.mit.edu                     Chess Display and Computers</a:t>
            </a:r>
          </a:p>
        </p:txBody>
      </p:sp>
    </p:spTree>
    <p:extLst>
      <p:ext uri="{BB962C8B-B14F-4D97-AF65-F5344CB8AC3E}">
        <p14:creationId xmlns:p14="http://schemas.microsoft.com/office/powerpoint/2010/main" val="875319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B97A9-C99B-4AA3-B223-455230B37B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9CD65-FDE0-45AB-8C92-688A07CCC3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078507" cy="4447886"/>
          </a:xfrm>
        </p:spPr>
        <p:txBody>
          <a:bodyPr>
            <a:normAutofit/>
          </a:bodyPr>
          <a:lstStyle/>
          <a:p>
            <a:r>
              <a:rPr lang="en-US" sz="4000" dirty="0"/>
              <a:t>Have Some Fun</a:t>
            </a:r>
          </a:p>
          <a:p>
            <a:r>
              <a:rPr lang="en-US" sz="4000" dirty="0"/>
              <a:t>Demonstrate Chess Display</a:t>
            </a:r>
          </a:p>
          <a:p>
            <a:r>
              <a:rPr lang="en-US" sz="4000" dirty="0"/>
              <a:t>Show Relationship Between Chess and Computer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5F64DA-0813-483A-8A64-71924345D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D83744-B960-4FDC-9100-33AFA2226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5AF28DD-11BC-43F5-9F29-84518C3B6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</p:spTree>
    <p:extLst>
      <p:ext uri="{BB962C8B-B14F-4D97-AF65-F5344CB8AC3E}">
        <p14:creationId xmlns:p14="http://schemas.microsoft.com/office/powerpoint/2010/main" val="26654873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AC7D3-9076-9BD9-9F76-4998C1187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2F655-69D6-36B2-0A32-334547C29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Chess Display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62D0A-57D0-842F-3330-0A5464DE25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078507" cy="4447886"/>
          </a:xfrm>
        </p:spPr>
        <p:txBody>
          <a:bodyPr>
            <a:normAutofit/>
          </a:bodyPr>
          <a:lstStyle/>
          <a:p>
            <a:r>
              <a:rPr lang="en-US" sz="4000" dirty="0"/>
              <a:t>NOT Playing Chess</a:t>
            </a:r>
          </a:p>
          <a:p>
            <a:r>
              <a:rPr lang="en-US" sz="4000" dirty="0"/>
              <a:t>Display Chess Position</a:t>
            </a:r>
          </a:p>
          <a:p>
            <a:r>
              <a:rPr lang="en-US" sz="4000" dirty="0"/>
              <a:t>Support Chess Analysis</a:t>
            </a:r>
          </a:p>
          <a:p>
            <a:endParaRPr lang="en-US" sz="4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9FE04E-E517-9703-1EC2-3A7FDBEAD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4B0AA1-9ABE-707E-B1BC-E64539A2F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05EB6DA-81FA-5119-D5A6-8C018CD087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</p:spTree>
    <p:extLst>
      <p:ext uri="{BB962C8B-B14F-4D97-AF65-F5344CB8AC3E}">
        <p14:creationId xmlns:p14="http://schemas.microsoft.com/office/powerpoint/2010/main" val="3142600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2DA9D-17B1-11F3-D5AF-44D7A5875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66BFC-321D-4630-10C5-5BB5D2CF6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Chess Display Program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EF5D2-F9E9-802D-6E4C-F25484EBF4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078507" cy="4447886"/>
          </a:xfrm>
        </p:spPr>
        <p:txBody>
          <a:bodyPr>
            <a:normAutofit/>
          </a:bodyPr>
          <a:lstStyle/>
          <a:p>
            <a:r>
              <a:rPr lang="en-US" sz="4000" dirty="0"/>
              <a:t>Display Board</a:t>
            </a:r>
          </a:p>
          <a:p>
            <a:r>
              <a:rPr lang="en-US" sz="4000" dirty="0"/>
              <a:t>Show Chess Game</a:t>
            </a:r>
          </a:p>
          <a:p>
            <a:pPr lvl="1"/>
            <a:r>
              <a:rPr lang="en-US" sz="3800" dirty="0"/>
              <a:t>Move, Unmove</a:t>
            </a:r>
          </a:p>
          <a:p>
            <a:pPr lvl="1"/>
            <a:r>
              <a:rPr lang="en-US" sz="3800" dirty="0"/>
              <a:t>Automated or Manual</a:t>
            </a:r>
          </a:p>
          <a:p>
            <a:r>
              <a:rPr lang="en-US" sz="4000" dirty="0"/>
              <a:t>Examine Recorded Games</a:t>
            </a:r>
          </a:p>
          <a:p>
            <a:endParaRPr lang="en-US" sz="4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28C4A-59CC-AD9C-5943-F91BC1D0D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206961-4F74-6550-9737-9440E2F79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4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257C96-FDB7-0AD5-BB86-530F56E72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</p:spTree>
    <p:extLst>
      <p:ext uri="{BB962C8B-B14F-4D97-AF65-F5344CB8AC3E}">
        <p14:creationId xmlns:p14="http://schemas.microsoft.com/office/powerpoint/2010/main" val="1386922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70503-00D9-597A-9C45-C32A3B35C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23134-A455-BEA9-86EB-A1E4051EF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5EB0B-1D4C-136C-FF01-4857873BE0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078507" cy="4447886"/>
          </a:xfrm>
        </p:spPr>
        <p:txBody>
          <a:bodyPr>
            <a:normAutofit/>
          </a:bodyPr>
          <a:lstStyle/>
          <a:p>
            <a:r>
              <a:rPr lang="en-US" sz="4000" dirty="0"/>
              <a:t>Game of the Century</a:t>
            </a:r>
          </a:p>
          <a:p>
            <a:r>
              <a:rPr lang="en-US" sz="4000" dirty="0"/>
              <a:t>Bobby Fischer vs Donald Byrne</a:t>
            </a:r>
          </a:p>
          <a:p>
            <a:r>
              <a:rPr lang="en-US" sz="4000" dirty="0">
                <a:hlinkClick r:id="rId3" tooltip="Marshall Chess Club"/>
              </a:rPr>
              <a:t>Marshall Chess Club</a:t>
            </a:r>
            <a:r>
              <a:rPr lang="en-US" sz="4000" dirty="0"/>
              <a:t> in </a:t>
            </a:r>
            <a:r>
              <a:rPr lang="en-US" sz="4000" dirty="0">
                <a:hlinkClick r:id="rId4" tooltip="New York City"/>
              </a:rPr>
              <a:t>New York City</a:t>
            </a:r>
            <a:endParaRPr lang="en-US" sz="4000" dirty="0"/>
          </a:p>
          <a:p>
            <a:r>
              <a:rPr lang="en-US" sz="4000" dirty="0"/>
              <a:t>October 17, 1956</a:t>
            </a:r>
          </a:p>
          <a:p>
            <a:r>
              <a:rPr lang="en-US" sz="4000" dirty="0"/>
              <a:t>Very Brief View</a:t>
            </a:r>
          </a:p>
          <a:p>
            <a:pPr algn="r"/>
            <a:endParaRPr lang="en-US" sz="4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BD718B-3EEC-6832-6CEE-97979EC21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604A21-9032-6028-3497-6648F9E88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112F9A7-0E58-AA20-7843-9B0047C73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1739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BD58C3-6ABE-7100-CE32-B0FDA15F4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pPr/>
              <a:t>8/8/2026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6368CB-2E24-DAC8-7351-9E82FF4CC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2FF4E2-7174-2AFA-59C7-475D272E1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4BC5CCF-B57F-73EB-C4CB-8C26176493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7301" y="0"/>
            <a:ext cx="619739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126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A6139-8E9E-6842-DCA4-7F2C678A9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6DC0D9-5577-ADE1-A4D7-39AAAB30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pPr/>
              <a:t>8/8/2026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8069D6-E5C1-828E-64B7-C0632B962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BC1420-873F-938E-9DB4-C4FEF7D65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7C5DFF9-0343-BAD2-66D2-86973F1260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9349" y="0"/>
            <a:ext cx="611330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846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18640-1213-5DD1-DB49-5CCA8BF6A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525517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Game of the Century – Portable Game Notation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833756-4727-E841-F7CE-3DA9E062E4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29255"/>
            <a:ext cx="8596668" cy="4512107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000" dirty="0"/>
              <a:t>[Event "Third Rosenwald Trophy"]</a:t>
            </a:r>
          </a:p>
          <a:p>
            <a:pPr marL="0" indent="0">
              <a:buNone/>
            </a:pPr>
            <a:r>
              <a:rPr lang="en-US" sz="2000" dirty="0"/>
              <a:t>[Site "New York, NY USA"]</a:t>
            </a:r>
          </a:p>
          <a:p>
            <a:pPr marL="0" indent="0">
              <a:buNone/>
            </a:pPr>
            <a:r>
              <a:rPr lang="en-US" sz="2000" dirty="0"/>
              <a:t>[Date "1956.10.17"]</a:t>
            </a:r>
          </a:p>
          <a:p>
            <a:pPr marL="0" indent="0">
              <a:buNone/>
            </a:pPr>
            <a:r>
              <a:rPr lang="en-US" sz="2000" dirty="0"/>
              <a:t>[EventDate "1956.10.07"]</a:t>
            </a:r>
          </a:p>
          <a:p>
            <a:pPr marL="0" indent="0">
              <a:buNone/>
            </a:pPr>
            <a:r>
              <a:rPr lang="en-US" sz="2000" dirty="0"/>
              <a:t>[Round "8"]</a:t>
            </a:r>
          </a:p>
          <a:p>
            <a:pPr marL="0" indent="0">
              <a:buNone/>
            </a:pPr>
            <a:r>
              <a:rPr lang="en-US" sz="2000" dirty="0"/>
              <a:t>[Result "0-1"]</a:t>
            </a:r>
          </a:p>
          <a:p>
            <a:pPr marL="0" indent="0">
              <a:buNone/>
            </a:pPr>
            <a:r>
              <a:rPr lang="en-US" sz="2000" dirty="0"/>
              <a:t>[White "Donald Byrne"]</a:t>
            </a:r>
          </a:p>
          <a:p>
            <a:pPr marL="0" indent="0">
              <a:buNone/>
            </a:pPr>
            <a:r>
              <a:rPr lang="en-US" sz="2000" dirty="0"/>
              <a:t>[Black "Robert James Fischer"]</a:t>
            </a:r>
          </a:p>
          <a:p>
            <a:pPr marL="0" indent="0">
              <a:buNone/>
            </a:pPr>
            <a:r>
              <a:rPr lang="en-US" sz="2000" dirty="0"/>
              <a:t>[Result "0-1"]</a:t>
            </a:r>
          </a:p>
          <a:p>
            <a:pPr marL="0" indent="0">
              <a:buNone/>
            </a:pPr>
            <a:r>
              <a:rPr lang="en-US" sz="2000" dirty="0"/>
              <a:t>[WhiteElo ""]</a:t>
            </a:r>
          </a:p>
          <a:p>
            <a:pPr marL="0" indent="0">
              <a:buNone/>
            </a:pPr>
            <a:r>
              <a:rPr lang="en-US" sz="2000" dirty="0"/>
              <a:t>[BlackElo ""]</a:t>
            </a:r>
          </a:p>
          <a:p>
            <a:pPr marL="0" indent="0">
              <a:buNone/>
            </a:pPr>
            <a:r>
              <a:rPr lang="en-US" sz="2000" dirty="0"/>
              <a:t>[ECO "D97"]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B662C3-120D-942B-5C53-308DBE2B3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7E836-D938-B001-B999-3FCD17FBC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F68999-BBF5-F828-0E21-19AB49192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63975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2F4F8-7457-7E68-C111-070B0CFBC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98439-90E1-E716-BA38-E530B13D5E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451513"/>
            <a:ext cx="8596668" cy="68360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Game of the Century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25535-D4A9-A874-7CEC-B8217EBB9D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5669" y="1135118"/>
            <a:ext cx="10310648" cy="490624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600" dirty="0"/>
              <a:t>1.Nf3 Nf6 2.c4 g6 3.Nc3 Bg7 4.d4 O-O 5.Bf4 d5 6.Qb3 dxc4 7.Qxc4 c6 8.e4 Nbd7</a:t>
            </a:r>
          </a:p>
          <a:p>
            <a:pPr marL="0" indent="0">
              <a:buNone/>
            </a:pPr>
            <a:r>
              <a:rPr lang="en-US" sz="2600" dirty="0"/>
              <a:t>9.Rd1 Nb6 10.Qc5 Bg4 11.Bg5 Na4 12.Qa3 Nxc3 13.bxc3 Nxe4 14.Bxe7 Qb6 15.Bc4 Nxc3</a:t>
            </a:r>
          </a:p>
          <a:p>
            <a:pPr marL="0" indent="0">
              <a:buNone/>
            </a:pPr>
            <a:r>
              <a:rPr lang="en-US" sz="2600" dirty="0"/>
              <a:t>16.Bc5 Rfe8+ 17.Kf1 Be6 18.Bxb6 Bxc4+ 19.Kg1 Ne2+ 20.Kf1 Nxd4+ 21.Kg1 Ne2+</a:t>
            </a:r>
          </a:p>
          <a:p>
            <a:pPr marL="0" indent="0">
              <a:buNone/>
            </a:pPr>
            <a:r>
              <a:rPr lang="en-US" sz="2600" dirty="0"/>
              <a:t>22.Kf1 Nc3+ 23.Kg1 axb6 24.Qb4 Ra4 25.Qxb6 Nxd1 26.h3 Rxa2 27.Kh2 Nxf2 28.Re1 Rxe1</a:t>
            </a:r>
          </a:p>
          <a:p>
            <a:pPr marL="0" indent="0">
              <a:buNone/>
            </a:pPr>
            <a:r>
              <a:rPr lang="en-US" sz="2600" dirty="0"/>
              <a:t>29.Qd8+ Bf8 30.Nxe1 Bd5 31.Nf3 Ne4 32.Qb8 b5 33.h4 h5 34.Ne5 Kg7 35.Kg1 Bc5+</a:t>
            </a:r>
          </a:p>
          <a:p>
            <a:pPr marL="0" indent="0">
              <a:buNone/>
            </a:pPr>
            <a:r>
              <a:rPr lang="en-US" sz="2600" dirty="0"/>
              <a:t>36.Kf1 Ng3+ 37.Ke1 Bb4+ 38.Kd1 Bb3+ 39.Kc1 Ne2+ 40.Kb1 Nc3+ 41.Kc1 Rc2+  0-1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1BE716-A7EE-59E0-E8D9-40EDD8689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6312F5-B5A6-39E6-B03C-8042C249C8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9BD93-2B17-6401-34DA-B01052EBC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7510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78366-C29C-6950-4392-0ECACC2B1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52296-CE32-F035-49B6-287613338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31CD2F-F7D3-5BC8-8E18-DCA23F0015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078507" cy="4447886"/>
          </a:xfrm>
        </p:spPr>
        <p:txBody>
          <a:bodyPr>
            <a:normAutofit/>
          </a:bodyPr>
          <a:lstStyle/>
          <a:p>
            <a:r>
              <a:rPr lang="en-US" sz="4000" dirty="0"/>
              <a:t>Display – Board, Chess Pieces, Menu</a:t>
            </a:r>
          </a:p>
          <a:p>
            <a:r>
              <a:rPr lang="en-US" sz="4000" dirty="0"/>
              <a:t>Game display – move, unmove, Go To Move</a:t>
            </a:r>
          </a:p>
          <a:p>
            <a:r>
              <a:rPr lang="en-US" sz="4000" dirty="0"/>
              <a:t>Interpret notation – Nf3, c4, …</a:t>
            </a:r>
          </a:p>
          <a:p>
            <a:r>
              <a:rPr lang="en-US" sz="4000" dirty="0"/>
              <a:t>Portable Game Notation - PGN</a:t>
            </a:r>
          </a:p>
          <a:p>
            <a:r>
              <a:rPr lang="en-US" sz="4000" dirty="0"/>
              <a:t>Forsyth-Edwards Notation - FEN </a:t>
            </a:r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87A35A-AB17-354B-2B4F-1058A7A06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FBF5AC-66CE-05FE-8D36-FA6E76C8C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10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BF8D74-ECA1-D8B5-3DFB-5BE623E6A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8651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EA2CA-EAF4-7025-E284-1F925ED35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A9704-4659-C3C4-60CA-5DEE88055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Chess Move Notation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712EBB-886B-00BB-1EF5-F0E667BFA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396833" cy="4447886"/>
          </a:xfrm>
        </p:spPr>
        <p:txBody>
          <a:bodyPr>
            <a:normAutofit/>
          </a:bodyPr>
          <a:lstStyle/>
          <a:p>
            <a:r>
              <a:rPr lang="en-US" sz="4000" dirty="0"/>
              <a:t>Record chess moves</a:t>
            </a:r>
          </a:p>
          <a:p>
            <a:r>
              <a:rPr lang="en-US" sz="4000" dirty="0"/>
              <a:t>Saving games</a:t>
            </a:r>
          </a:p>
          <a:p>
            <a:r>
              <a:rPr lang="en-US" sz="4000" dirty="0"/>
              <a:t>Recovering games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864D4E-FAA8-A8C4-9450-23B3B32233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957C91-95BB-C255-08DE-BB811E7DC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11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7D0BFA6-47F3-62D6-6284-079D700C3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1838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17F5C-EF20-898B-3F4C-D1A2774D3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FC4DA-9DBC-6F2F-E961-3106561D5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Algebraic Chess Move Notation</a:t>
            </a:r>
            <a:endParaRPr lang="en-US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2FB94F-2110-F369-914B-103CD10A99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93476"/>
            <a:ext cx="9396833" cy="4447886"/>
          </a:xfrm>
        </p:spPr>
        <p:txBody>
          <a:bodyPr>
            <a:normAutofit/>
          </a:bodyPr>
          <a:lstStyle/>
          <a:p>
            <a:r>
              <a:rPr lang="en-US" sz="4000" i="1" dirty="0"/>
              <a:t>Move, Piece</a:t>
            </a:r>
            <a:r>
              <a:rPr lang="en-US" sz="4000" dirty="0"/>
              <a:t>, </a:t>
            </a:r>
            <a:r>
              <a:rPr lang="en-US" sz="4000" i="1" dirty="0"/>
              <a:t>Destination e.g., 1. Nf3</a:t>
            </a:r>
          </a:p>
          <a:p>
            <a:r>
              <a:rPr lang="en-US" sz="4000" i="1" dirty="0"/>
              <a:t>Pieces: </a:t>
            </a:r>
            <a:r>
              <a:rPr lang="en-US" sz="4000" b="1" dirty="0"/>
              <a:t>K</a:t>
            </a:r>
            <a:r>
              <a:rPr lang="en-US" sz="4000" dirty="0"/>
              <a:t>ing</a:t>
            </a:r>
            <a:r>
              <a:rPr lang="en-US" sz="4000" i="1" dirty="0"/>
              <a:t> </a:t>
            </a:r>
            <a:r>
              <a:rPr lang="en-US" sz="4000" b="1" dirty="0"/>
              <a:t>Q</a:t>
            </a:r>
            <a:r>
              <a:rPr lang="en-US" sz="4000" dirty="0"/>
              <a:t>ueen</a:t>
            </a:r>
            <a:r>
              <a:rPr lang="en-US" sz="4000" i="1" dirty="0"/>
              <a:t> </a:t>
            </a:r>
            <a:r>
              <a:rPr lang="en-US" sz="4000" b="1" dirty="0"/>
              <a:t>B</a:t>
            </a:r>
            <a:r>
              <a:rPr lang="en-US" sz="4000" dirty="0"/>
              <a:t>iship</a:t>
            </a:r>
            <a:r>
              <a:rPr lang="en-US" sz="4000" i="1" dirty="0"/>
              <a:t> </a:t>
            </a:r>
            <a:r>
              <a:rPr lang="en-US" sz="4000" dirty="0"/>
              <a:t>k</a:t>
            </a:r>
            <a:r>
              <a:rPr lang="en-US" sz="4000" b="1" dirty="0"/>
              <a:t>N</a:t>
            </a:r>
            <a:r>
              <a:rPr lang="en-US" sz="4000" dirty="0"/>
              <a:t>ight</a:t>
            </a:r>
            <a:r>
              <a:rPr lang="en-US" sz="4000" i="1" dirty="0"/>
              <a:t> </a:t>
            </a:r>
            <a:r>
              <a:rPr lang="en-US" sz="4000" b="1" dirty="0"/>
              <a:t>R</a:t>
            </a:r>
            <a:r>
              <a:rPr lang="en-US" sz="4000" dirty="0"/>
              <a:t>ook </a:t>
            </a:r>
            <a:r>
              <a:rPr lang="en-US" sz="4000" b="1" dirty="0"/>
              <a:t>P</a:t>
            </a:r>
            <a:r>
              <a:rPr lang="en-US" sz="4000" dirty="0"/>
              <a:t>awn (usually P is omitted)</a:t>
            </a:r>
          </a:p>
          <a:p>
            <a:r>
              <a:rPr lang="en-US" sz="4000" dirty="0"/>
              <a:t>Destination: file(column), rank(row)</a:t>
            </a:r>
          </a:p>
          <a:p>
            <a:pPr marL="457200" lvl="1" indent="0">
              <a:buNone/>
            </a:pPr>
            <a:r>
              <a:rPr lang="en-US" sz="3800" dirty="0"/>
              <a:t>1. Nf3  - White Knight move to square  at file-f, rank-3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438594-7643-4BE9-2263-F7E98600E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093BE1-47C1-5E08-FA42-55E877159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12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5BCE79-8BF0-2AE7-CB54-FCF1302C6B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832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714EA-492F-C973-D890-69F069F79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60E87-8A23-017C-86BC-91DD44813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Chess Interpretation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F0356-FE6A-C114-7379-E40A723B88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396833" cy="4447886"/>
          </a:xfrm>
        </p:spPr>
        <p:txBody>
          <a:bodyPr>
            <a:normAutofit/>
          </a:bodyPr>
          <a:lstStyle/>
          <a:p>
            <a:r>
              <a:rPr lang="en-US" sz="3800" dirty="0"/>
              <a:t>Notation Parsing </a:t>
            </a:r>
          </a:p>
          <a:p>
            <a:pPr lvl="1"/>
            <a:r>
              <a:rPr lang="en-US" sz="3600" dirty="0"/>
              <a:t>Movement spec -&gt; piece + destination</a:t>
            </a:r>
          </a:p>
          <a:p>
            <a:r>
              <a:rPr lang="en-US" sz="3800" dirty="0"/>
              <a:t>	Locate piece(s)</a:t>
            </a:r>
          </a:p>
          <a:p>
            <a:r>
              <a:rPr lang="en-US" sz="3800" dirty="0"/>
              <a:t>Resolve ambiguities</a:t>
            </a:r>
          </a:p>
          <a:p>
            <a:r>
              <a:rPr lang="en-US" sz="3800" dirty="0"/>
              <a:t>Recognize invalid moves</a:t>
            </a:r>
          </a:p>
          <a:p>
            <a:pPr marL="0" indent="0">
              <a:buNone/>
            </a:pPr>
            <a:endParaRPr lang="en-US" sz="3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287082-D6DF-BC74-215C-536A19BB7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5EC657-53F4-40C8-94D3-9C11C4018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4EB9F04-AFA4-B663-F5B3-B79DD3A24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3000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6FA7B-6556-9641-CE0C-8FB041997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F6FB5-22F3-02AC-F03F-7D113C8D5C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049991" cy="1320800"/>
          </a:xfrm>
        </p:spPr>
        <p:txBody>
          <a:bodyPr>
            <a:normAutofit/>
          </a:bodyPr>
          <a:lstStyle/>
          <a:p>
            <a:r>
              <a:rPr lang="en-US" sz="4000" dirty="0"/>
              <a:t>Chess Move Notation – Example: 1. Nf3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DF6F65-5BA1-8BD8-C2C8-009B545DC9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396833" cy="4447886"/>
          </a:xfrm>
        </p:spPr>
        <p:txBody>
          <a:bodyPr>
            <a:normAutofit/>
          </a:bodyPr>
          <a:lstStyle/>
          <a:p>
            <a:r>
              <a:rPr lang="en-US" sz="3800" dirty="0"/>
              <a:t>Determine move, piece, destination</a:t>
            </a:r>
          </a:p>
          <a:p>
            <a:r>
              <a:rPr lang="en-US" sz="3800" dirty="0"/>
              <a:t>1. Nf3 = white’s move 1, Knight, to square f3</a:t>
            </a:r>
          </a:p>
          <a:p>
            <a:r>
              <a:rPr lang="en-US" sz="3800" dirty="0"/>
              <a:t>16… Rfe8+ = black move 16, Rook on f file, to square e8 with check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8BA7F9-F106-D735-3A09-8D9CB6A98F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1AFB29-A179-E1C8-A86F-BFC0B540F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14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00D770E-4F7D-21C8-8862-1F39E2287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9452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B157F-6FAE-0E9F-7548-BA77A93AB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C7AF4-2419-5B40-9106-2099DF19F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049991" cy="1320800"/>
          </a:xfrm>
        </p:spPr>
        <p:txBody>
          <a:bodyPr>
            <a:normAutofit/>
          </a:bodyPr>
          <a:lstStyle/>
          <a:p>
            <a:r>
              <a:rPr lang="en-US" sz="4000" dirty="0"/>
              <a:t>Move Parsing – onion skin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8B3970-AC63-7A85-2093-E2E672EAD1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396833" cy="4447886"/>
          </a:xfrm>
        </p:spPr>
        <p:txBody>
          <a:bodyPr>
            <a:normAutofit lnSpcReduction="10000"/>
          </a:bodyPr>
          <a:lstStyle/>
          <a:p>
            <a:r>
              <a:rPr lang="en-US" sz="3800" dirty="0"/>
              <a:t>In stages downward, r</a:t>
            </a:r>
            <a:r>
              <a:rPr lang="en-US" sz="3600" dirty="0"/>
              <a:t>emoving, if found</a:t>
            </a:r>
          </a:p>
          <a:p>
            <a:pPr lvl="1"/>
            <a:r>
              <a:rPr lang="en-US" sz="3600" dirty="0"/>
              <a:t>Game Result: 1-0, 0-1, ½-½ - DONE</a:t>
            </a:r>
          </a:p>
          <a:p>
            <a:pPr lvl="1"/>
            <a:r>
              <a:rPr lang="en-US" sz="3600" dirty="0"/>
              <a:t>From  tail: + check, # checkmate</a:t>
            </a:r>
          </a:p>
          <a:p>
            <a:pPr lvl="1"/>
            <a:r>
              <a:rPr lang="en-US" sz="3600" dirty="0"/>
              <a:t>Unique: O-O, O-O-O – DONE</a:t>
            </a:r>
          </a:p>
          <a:p>
            <a:pPr lvl="1"/>
            <a:r>
              <a:rPr lang="en-US" sz="3600" dirty="0"/>
              <a:t>From tail: promotion e.g., =Q</a:t>
            </a:r>
          </a:p>
          <a:p>
            <a:pPr lvl="1"/>
            <a:r>
              <a:rPr lang="en-US" sz="3600" dirty="0"/>
              <a:t>From tail: destination e.g., e8</a:t>
            </a:r>
          </a:p>
          <a:p>
            <a:pPr lvl="1"/>
            <a:r>
              <a:rPr lang="en-US" sz="3600" dirty="0"/>
              <a:t>From tail: capture (x)</a:t>
            </a:r>
          </a:p>
          <a:p>
            <a:endParaRPr lang="en-US" sz="3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8CB73E-872D-AF93-3F06-59F65B9085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890427-A80E-9120-E229-29CDEF93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D5F6344-3762-54E8-FBBD-27DCBC555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04925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640AD-E814-C2BE-0DAB-FFF4DFF8F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0D801-268C-C19D-BE8D-0076825E4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049991" cy="1320800"/>
          </a:xfrm>
        </p:spPr>
        <p:txBody>
          <a:bodyPr>
            <a:normAutofit/>
          </a:bodyPr>
          <a:lstStyle/>
          <a:p>
            <a:r>
              <a:rPr lang="en-US" sz="4000" dirty="0"/>
              <a:t>Move Parsing – onion skin - continued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57D907-7D3D-9A1E-384D-5CA4565F7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396833" cy="4447886"/>
          </a:xfrm>
        </p:spPr>
        <p:txBody>
          <a:bodyPr>
            <a:normAutofit/>
          </a:bodyPr>
          <a:lstStyle/>
          <a:p>
            <a:r>
              <a:rPr lang="en-US" sz="3800" dirty="0"/>
              <a:t>From left: Piece, e.g., K</a:t>
            </a:r>
          </a:p>
          <a:p>
            <a:r>
              <a:rPr lang="en-US" sz="3800"/>
              <a:t>From left: </a:t>
            </a:r>
            <a:r>
              <a:rPr lang="en-US" sz="3800" dirty="0"/>
              <a:t>source file, e.g., f</a:t>
            </a:r>
          </a:p>
          <a:p>
            <a:r>
              <a:rPr lang="en-US" sz="3800" dirty="0"/>
              <a:t>From left end: source rank, e.g., 1</a:t>
            </a:r>
          </a:p>
          <a:p>
            <a:endParaRPr lang="en-US" sz="3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2278AB-6FC8-8AA1-8FB2-F14A8CE91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FB70D8-55A2-ECF5-E9AF-5B157BA42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16FD53B-C631-33E5-4DDC-B27D99DBCF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6978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B5E45-A2BB-24B6-7ADE-021D5E73D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C1556-5BF1-ECB6-830B-3C9B314C1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049991" cy="1320800"/>
          </a:xfrm>
        </p:spPr>
        <p:txBody>
          <a:bodyPr>
            <a:normAutofit/>
          </a:bodyPr>
          <a:lstStyle/>
          <a:p>
            <a:r>
              <a:rPr lang="en-US" sz="4000" dirty="0"/>
              <a:t>Chess Move Notation - Disambiguation </a:t>
            </a:r>
            <a:br>
              <a:rPr lang="en-US" sz="4000" dirty="0"/>
            </a:br>
            <a:r>
              <a:rPr lang="en-US" sz="4000" dirty="0"/>
              <a:t>– Example: 16… Rfe8+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D9E91-98B7-3FD2-3300-993AC2011E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930399"/>
            <a:ext cx="9396833" cy="4110963"/>
          </a:xfrm>
        </p:spPr>
        <p:txBody>
          <a:bodyPr>
            <a:normAutofit/>
          </a:bodyPr>
          <a:lstStyle/>
          <a:p>
            <a:r>
              <a:rPr lang="en-US" sz="3800" dirty="0"/>
              <a:t>Parse 16… Rfe8+ into black rook in file-f to square e8 with check</a:t>
            </a:r>
          </a:p>
          <a:p>
            <a:r>
              <a:rPr lang="en-US" sz="3800" dirty="0"/>
              <a:t>Determine that the only black rook in the file-f that can move to e8 is the rook starting in f8</a:t>
            </a:r>
          </a:p>
          <a:p>
            <a:pPr marL="0" indent="0">
              <a:buNone/>
            </a:pPr>
            <a:endParaRPr lang="en-US" sz="3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D72999-BCC9-38B5-856F-182A07F22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4B26D8-3C90-06E0-BCD7-73BE78C6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17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02581CD-A02E-912F-9B79-6A32599D7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6986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00116-AD8E-DD7A-25E9-EE712F072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D30E5-AB7B-B947-6594-D1C9939E5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19655"/>
          </a:xfrm>
        </p:spPr>
        <p:txBody>
          <a:bodyPr/>
          <a:lstStyle/>
          <a:p>
            <a:r>
              <a:rPr lang="en-US" dirty="0"/>
              <a:t> Finding Piece Requires Move Knowledge</a:t>
            </a:r>
            <a:endParaRPr lang="en-US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C51C07-1704-64E1-6155-781E5266C4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Find piece(s) specified by move</a:t>
            </a:r>
          </a:p>
          <a:p>
            <a:r>
              <a:rPr lang="en-US" sz="3600" dirty="0"/>
              <a:t>What piece can reach destination?</a:t>
            </a:r>
          </a:p>
          <a:p>
            <a:r>
              <a:rPr lang="en-US" sz="3600" dirty="0"/>
              <a:t>What squares can each legally reach?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E9537A-E459-262A-D23E-2A7D0399B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9FC34D-9BD3-2B74-85EA-16C72A205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18033B-B43E-35F1-BFFF-21784FD9C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66651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C0940-C4C9-DEC3-6FF4-791B4C5E4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32615-905F-DC5E-4772-C84228658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19655"/>
          </a:xfrm>
        </p:spPr>
        <p:txBody>
          <a:bodyPr>
            <a:normAutofit fontScale="90000"/>
          </a:bodyPr>
          <a:lstStyle/>
          <a:p>
            <a:r>
              <a:rPr lang="en-US" dirty="0"/>
              <a:t> How the Pieces Move (in computer eyes)</a:t>
            </a:r>
            <a:endParaRPr lang="en-US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A9AC03-B76E-8611-E55D-A43685EBCC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sz="3600" dirty="0"/>
              <a:t>Handle ALL pieces, ALL places</a:t>
            </a:r>
          </a:p>
          <a:p>
            <a:r>
              <a:rPr lang="en-US" sz="3600" dirty="0"/>
              <a:t>Hopefully one plan for all pieces</a:t>
            </a:r>
          </a:p>
          <a:p>
            <a:endParaRPr lang="en-US" sz="3600" dirty="0"/>
          </a:p>
          <a:p>
            <a:r>
              <a:rPr lang="en-US" sz="3600" dirty="0"/>
              <a:t>Q,B,R – One or more squares in same direction</a:t>
            </a:r>
          </a:p>
          <a:p>
            <a:r>
              <a:rPr lang="en-US" sz="3600" dirty="0"/>
              <a:t>K - one square</a:t>
            </a:r>
          </a:p>
          <a:p>
            <a:r>
              <a:rPr lang="en-US" sz="3600" dirty="0"/>
              <a:t>N – One jump</a:t>
            </a:r>
          </a:p>
          <a:p>
            <a:r>
              <a:rPr lang="en-US" sz="3600" dirty="0"/>
              <a:t>P – One or Two (optional on first)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4F728-B363-6BFB-695D-141BD2C16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056E03-F811-30DE-30AF-3CD871927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9245A5-13CF-0BFF-8415-93D63F180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97933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A6AB6-45D7-F0A0-7CEE-B0367677A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C4005-840E-B349-05C4-F38CF89360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19655"/>
          </a:xfrm>
        </p:spPr>
        <p:txBody>
          <a:bodyPr>
            <a:normAutofit fontScale="90000"/>
          </a:bodyPr>
          <a:lstStyle/>
          <a:p>
            <a:r>
              <a:rPr lang="en-US" dirty="0"/>
              <a:t> How the Pieces Move (in computer eyes)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CA724E-E66D-3CBA-CC00-B7A53C1CA2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2607" y="1529255"/>
            <a:ext cx="9601200" cy="4512107"/>
          </a:xfrm>
        </p:spPr>
        <p:txBody>
          <a:bodyPr>
            <a:normAutofit/>
          </a:bodyPr>
          <a:lstStyle/>
          <a:p>
            <a:r>
              <a:rPr lang="en-US" sz="3600" dirty="0"/>
              <a:t>Move/Capture in a direction</a:t>
            </a:r>
          </a:p>
          <a:p>
            <a:r>
              <a:rPr lang="en-US" sz="3600" dirty="0"/>
              <a:t> Move directions, as number pairs</a:t>
            </a:r>
          </a:p>
          <a:p>
            <a:pPr marL="800100" lvl="2" indent="0">
              <a:buNone/>
            </a:pP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(-1,1)  (0,1)  (1,1)</a:t>
            </a:r>
          </a:p>
          <a:p>
            <a:pPr marL="800100" lvl="2" indent="0">
              <a:buNone/>
            </a:pP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(-1,0)  </a:t>
            </a:r>
            <a:r>
              <a:rPr lang="en-US" sz="3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piece</a:t>
            </a: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  (1,0)</a:t>
            </a:r>
          </a:p>
          <a:p>
            <a:pPr marL="800100" lvl="2" indent="0">
              <a:buNone/>
            </a:pP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(-1,-1) (0,-1) (1,-1)</a:t>
            </a:r>
          </a:p>
          <a:p>
            <a:pPr marL="0" indent="0">
              <a:buNone/>
            </a:pPr>
            <a:r>
              <a:rPr lang="en-US" sz="3000" dirty="0">
                <a:solidFill>
                  <a:schemeClr val="tx1"/>
                </a:solidFill>
              </a:rPr>
              <a:t>(-:left, 0:same, +:right, -:down, 0:same, +:up)</a:t>
            </a:r>
          </a:p>
          <a:p>
            <a:pPr marL="457200" indent="-457200"/>
            <a:r>
              <a:rPr lang="en-US" sz="3600" dirty="0"/>
              <a:t>Arithmetic calculates destinations</a:t>
            </a:r>
          </a:p>
          <a:p>
            <a:pPr marL="800100" lvl="2" indent="0">
              <a:buNone/>
            </a:pPr>
            <a:endParaRPr lang="en-US" sz="3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0D7575-DB95-D1B9-970F-D17F1AEE4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3CA130-7166-B530-51DB-143C46A1F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3B6B92-1060-278C-DB8A-FCC281440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40856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9300A-91D4-0213-0591-8BCCA96D6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D49CF-42A2-5BFB-1662-DA26C66EF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19655"/>
          </a:xfrm>
        </p:spPr>
        <p:txBody>
          <a:bodyPr/>
          <a:lstStyle/>
          <a:p>
            <a:r>
              <a:rPr lang="en-US" dirty="0"/>
              <a:t> Pawn Move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AEEDB6-69A7-D882-E9BB-9784EDB8F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9081521" cy="388077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3600" dirty="0"/>
              <a:t> </a:t>
            </a:r>
            <a:r>
              <a:rPr lang="en-US" sz="3600" dirty="0">
                <a:solidFill>
                  <a:schemeClr val="accent1"/>
                </a:solidFill>
              </a:rPr>
              <a:t>pawn – list of directions: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accent1"/>
                </a:solidFill>
              </a:rPr>
              <a:t> Third entry for </a:t>
            </a:r>
            <a:r>
              <a:rPr lang="en-US" sz="3600" dirty="0">
                <a:solidFill>
                  <a:schemeClr val="accent2"/>
                </a:solidFill>
              </a:rPr>
              <a:t>move</a:t>
            </a:r>
            <a:r>
              <a:rPr lang="en-US" sz="3600" dirty="0">
                <a:solidFill>
                  <a:schemeClr val="accent1"/>
                </a:solidFill>
              </a:rPr>
              <a:t> /</a:t>
            </a:r>
            <a:r>
              <a:rPr lang="en-US" sz="3600" dirty="0">
                <a:solidFill>
                  <a:schemeClr val="accent5"/>
                </a:solidFill>
              </a:rPr>
              <a:t>capture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accent1"/>
                </a:solidFill>
              </a:rPr>
              <a:t>  </a:t>
            </a:r>
          </a:p>
          <a:p>
            <a:pPr marL="0" indent="0">
              <a:buNone/>
            </a:pPr>
            <a:r>
              <a:rPr lang="en-US" sz="3600" dirty="0"/>
              <a:t>  white:  (0,1,"</a:t>
            </a:r>
            <a:r>
              <a:rPr lang="en-US" sz="3600" dirty="0">
                <a:solidFill>
                  <a:srgbClr val="00B050"/>
                </a:solidFill>
              </a:rPr>
              <a:t>move</a:t>
            </a:r>
            <a:r>
              <a:rPr lang="en-US" sz="3600" dirty="0"/>
              <a:t>"), (-1,1, "</a:t>
            </a:r>
            <a:r>
              <a:rPr lang="en-US" sz="3600" dirty="0">
                <a:solidFill>
                  <a:schemeClr val="accent5"/>
                </a:solidFill>
              </a:rPr>
              <a:t>capture</a:t>
            </a:r>
            <a:r>
              <a:rPr lang="en-US" sz="3600" dirty="0"/>
              <a:t>")</a:t>
            </a:r>
          </a:p>
          <a:p>
            <a:pPr marL="0" indent="0">
              <a:buNone/>
            </a:pPr>
            <a:r>
              <a:rPr lang="en-US" sz="3600" dirty="0"/>
              <a:t>             (1,1,"</a:t>
            </a:r>
            <a:r>
              <a:rPr lang="en-US" sz="3600" dirty="0">
                <a:solidFill>
                  <a:schemeClr val="accent5"/>
                </a:solidFill>
              </a:rPr>
              <a:t>capture</a:t>
            </a:r>
            <a:r>
              <a:rPr lang="en-US" sz="3600" dirty="0"/>
              <a:t>")</a:t>
            </a:r>
          </a:p>
          <a:p>
            <a:pPr marL="0" indent="0">
              <a:buNone/>
            </a:pPr>
            <a:r>
              <a:rPr lang="en-US" sz="3600" dirty="0"/>
              <a:t>  black:  (0,-1,"</a:t>
            </a:r>
            <a:r>
              <a:rPr lang="en-US" sz="3600" dirty="0">
                <a:solidFill>
                  <a:schemeClr val="accent2"/>
                </a:solidFill>
              </a:rPr>
              <a:t>move</a:t>
            </a:r>
            <a:r>
              <a:rPr lang="en-US" sz="3600" dirty="0"/>
              <a:t>"), (-1,-1, "</a:t>
            </a:r>
            <a:r>
              <a:rPr lang="en-US" sz="3600" dirty="0">
                <a:solidFill>
                  <a:schemeClr val="accent5"/>
                </a:solidFill>
              </a:rPr>
              <a:t>capture</a:t>
            </a:r>
            <a:r>
              <a:rPr lang="en-US" sz="3600" dirty="0"/>
              <a:t>"),</a:t>
            </a:r>
          </a:p>
          <a:p>
            <a:pPr marL="0" indent="0">
              <a:buNone/>
            </a:pPr>
            <a:r>
              <a:rPr lang="en-US" sz="3600" dirty="0"/>
              <a:t>             (1,-1,"</a:t>
            </a:r>
            <a:r>
              <a:rPr lang="en-US" sz="3600" dirty="0">
                <a:solidFill>
                  <a:schemeClr val="accent5"/>
                </a:solidFill>
              </a:rPr>
              <a:t>capture</a:t>
            </a:r>
            <a:r>
              <a:rPr lang="en-US" sz="3600" dirty="0"/>
              <a:t>")],</a:t>
            </a:r>
          </a:p>
          <a:p>
            <a:endParaRPr lang="en-US" sz="36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264F9-8A8F-908D-231E-B5B2AB5DE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E763EC-CF35-80FC-6010-FC4821ABD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E5C57-4D0C-0A4B-CDA9-59126E656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51888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8471E-41DC-94CC-0E06-9BF01DCEA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8C58E-B80C-3489-C7AF-F898E8D64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19655"/>
          </a:xfrm>
        </p:spPr>
        <p:txBody>
          <a:bodyPr>
            <a:normAutofit/>
          </a:bodyPr>
          <a:lstStyle/>
          <a:p>
            <a:r>
              <a:rPr lang="en-US" dirty="0"/>
              <a:t> White Pawn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Moves</a:t>
            </a:r>
            <a:r>
              <a:rPr lang="en-US" dirty="0"/>
              <a:t> / </a:t>
            </a:r>
            <a:r>
              <a:rPr lang="en-US" dirty="0">
                <a:solidFill>
                  <a:schemeClr val="accent5"/>
                </a:solidFill>
              </a:rPr>
              <a:t>Capt</a:t>
            </a:r>
            <a:r>
              <a:rPr lang="en-US" dirty="0"/>
              <a:t>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91F27-160B-824C-567A-BE19660575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8276" y="1529255"/>
            <a:ext cx="8781392" cy="41463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(-1,2)     </a:t>
            </a:r>
            <a:r>
              <a:rPr lang="en-US" sz="3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3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0,2)</a:t>
            </a:r>
            <a:r>
              <a:rPr lang="en-US" sz="3600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Move*</a:t>
            </a:r>
            <a:r>
              <a:rPr lang="en-US" sz="3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3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(1,2)</a:t>
            </a:r>
          </a:p>
          <a:p>
            <a:pPr marL="0" indent="0">
              <a:buNone/>
            </a:pPr>
            <a:r>
              <a:rPr lang="en-US" sz="3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(-1,1)</a:t>
            </a:r>
            <a:r>
              <a:rPr lang="en-US" sz="3600" b="1" dirty="0">
                <a:solidFill>
                  <a:schemeClr val="accent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Capt</a:t>
            </a:r>
            <a:r>
              <a:rPr lang="en-US" sz="3600" dirty="0">
                <a:solidFill>
                  <a:schemeClr val="accent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3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3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0,1)</a:t>
            </a:r>
            <a:r>
              <a:rPr lang="en-US" sz="3600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sz="3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3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3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1,1)</a:t>
            </a:r>
            <a:r>
              <a:rPr lang="en-US" sz="3600" b="1" dirty="0">
                <a:solidFill>
                  <a:schemeClr val="accent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Capt</a:t>
            </a:r>
          </a:p>
          <a:p>
            <a:pPr marL="0" indent="0">
              <a:buNone/>
            </a:pP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(-1,0)     </a:t>
            </a:r>
            <a:r>
              <a:rPr lang="en-US" sz="3600" b="1" dirty="0">
                <a:latin typeface="Courier New" panose="02070309020205020404" pitchFamily="49" charset="0"/>
                <a:cs typeface="Courier New" panose="02070309020205020404" pitchFamily="49" charset="0"/>
              </a:rPr>
              <a:t>White Pawn</a:t>
            </a: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 (1,0)</a:t>
            </a:r>
          </a:p>
          <a:p>
            <a:pPr marL="0" indent="0">
              <a:buNone/>
            </a:pP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(-1,-1)     (0,-1)    (1,-1)</a:t>
            </a:r>
          </a:p>
          <a:p>
            <a:pPr marL="800100" lvl="2" indent="0">
              <a:buNone/>
            </a:pPr>
            <a:r>
              <a:rPr lang="en-US" sz="32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 - optional on first move</a:t>
            </a:r>
          </a:p>
          <a:p>
            <a:pPr marL="800100" lvl="2" indent="0">
              <a:buNone/>
            </a:pPr>
            <a:endParaRPr lang="en-US" sz="3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02F8D7-DA5E-5731-3EF8-562F95755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7E8853-D3DD-044E-9B81-59A7151C3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raysmith@alum.mit.edu                     Session 2 – Building Blocks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C88BD0-788B-45B2-FE37-9FD9A73D3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50788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8EEA6-FDE0-150B-F450-DCA155CF7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8160C-D640-83C4-E173-3973FFDBE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19655"/>
          </a:xfrm>
        </p:spPr>
        <p:txBody>
          <a:bodyPr>
            <a:normAutofit/>
          </a:bodyPr>
          <a:lstStyle/>
          <a:p>
            <a:r>
              <a:rPr lang="en-US" dirty="0"/>
              <a:t> Black Pawn </a:t>
            </a:r>
            <a:r>
              <a:rPr lang="en-US" dirty="0">
                <a:solidFill>
                  <a:schemeClr val="accent2"/>
                </a:solidFill>
              </a:rPr>
              <a:t>Moves</a:t>
            </a:r>
            <a:r>
              <a:rPr lang="en-US" dirty="0"/>
              <a:t>/</a:t>
            </a:r>
            <a:r>
              <a:rPr lang="en-US" dirty="0">
                <a:solidFill>
                  <a:schemeClr val="accent5"/>
                </a:solidFill>
              </a:rPr>
              <a:t>Capt</a:t>
            </a:r>
            <a:r>
              <a:rPr lang="en-US" dirty="0"/>
              <a:t>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0C9C4-64FF-CC23-1E78-B3A9DB356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529255"/>
            <a:ext cx="9538138" cy="45121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(-1,1)      (0,1)       (1,1)</a:t>
            </a:r>
          </a:p>
          <a:p>
            <a:pPr marL="0" indent="0">
              <a:buNone/>
            </a:pP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(-1,0)     </a:t>
            </a:r>
            <a:r>
              <a:rPr lang="en-US" sz="3600" b="1" dirty="0">
                <a:latin typeface="Courier New" panose="02070309020205020404" pitchFamily="49" charset="0"/>
                <a:cs typeface="Courier New" panose="02070309020205020404" pitchFamily="49" charset="0"/>
              </a:rPr>
              <a:t>Black Pawn</a:t>
            </a: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   (1,0)</a:t>
            </a:r>
          </a:p>
          <a:p>
            <a:pPr marL="0" indent="0">
              <a:buNone/>
            </a:pPr>
            <a:r>
              <a:rPr lang="en-US" sz="3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(-1,-1)</a:t>
            </a:r>
            <a:r>
              <a:rPr lang="en-US" sz="3600" b="1" dirty="0">
                <a:solidFill>
                  <a:schemeClr val="accent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Capt </a:t>
            </a:r>
            <a:r>
              <a:rPr lang="en-US" sz="3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(0,-1)</a:t>
            </a:r>
            <a:r>
              <a:rPr lang="en-US" sz="3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sz="36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3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(1,-1)</a:t>
            </a:r>
            <a:r>
              <a:rPr lang="en-US" sz="3600" b="1" dirty="0">
                <a:solidFill>
                  <a:schemeClr val="accent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Capt</a:t>
            </a:r>
          </a:p>
          <a:p>
            <a:pPr marL="0" indent="0">
              <a:buNone/>
            </a:pP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(-1,-2)     </a:t>
            </a:r>
            <a:r>
              <a:rPr lang="en-US" sz="3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(0,-2)</a:t>
            </a:r>
            <a:r>
              <a:rPr lang="en-US" sz="3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Move* </a:t>
            </a:r>
            <a:r>
              <a:rPr lang="en-US" sz="3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(1,-2)</a:t>
            </a:r>
          </a:p>
          <a:p>
            <a:pPr marL="400050" lvl="1" indent="0">
              <a:buNone/>
            </a:pPr>
            <a:r>
              <a:rPr lang="en-US" sz="3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 - optional on first move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F9A661-00FC-C7F6-0D7E-9060CA3CC8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2ECE49-8276-6E6E-6EDB-76611368D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C06546-DBAF-B477-3679-0DE818721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89836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21A72-BDAB-6B36-68F1-1E380118D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B1AB9-A718-D43C-4E57-4E8892CBF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19655"/>
          </a:xfrm>
        </p:spPr>
        <p:txBody>
          <a:bodyPr/>
          <a:lstStyle/>
          <a:p>
            <a:r>
              <a:rPr lang="en-US" dirty="0"/>
              <a:t> More Piece Move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36E51C-FF3D-AD2C-8E45-F7C97A725F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29255"/>
            <a:ext cx="8596668" cy="45121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 </a:t>
            </a:r>
            <a:r>
              <a:rPr lang="en-US" sz="2800" dirty="0"/>
              <a:t>Knight: 	(1,2), (2,1), (2,-1), (1,-2),</a:t>
            </a:r>
          </a:p>
          <a:p>
            <a:pPr marL="0" indent="0">
              <a:buNone/>
            </a:pPr>
            <a:r>
              <a:rPr lang="en-US" sz="2800" dirty="0"/>
              <a:t>              (-1,-2), (-2,-1), (-2,1), (-1,2)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Bishop: (1,1), (1,-1), (-1,-1), (-1,1)</a:t>
            </a:r>
          </a:p>
          <a:p>
            <a:pPr marL="0" indent="0">
              <a:buNone/>
            </a:pPr>
            <a:r>
              <a:rPr lang="en-US" sz="2800" dirty="0"/>
              <a:t>Rook: (0,1), (1,0), (0,-1), (-1,0)</a:t>
            </a:r>
          </a:p>
          <a:p>
            <a:pPr marL="0" indent="0">
              <a:buNone/>
            </a:pPr>
            <a:r>
              <a:rPr lang="en-US" sz="2800" dirty="0"/>
              <a:t>Queen:  Rook  + Bishop</a:t>
            </a:r>
          </a:p>
          <a:p>
            <a:pPr marL="0" indent="0">
              <a:buNone/>
            </a:pPr>
            <a:r>
              <a:rPr lang="en-US" sz="2800" dirty="0"/>
              <a:t>       B,R,Q: multiples in  that direction</a:t>
            </a:r>
          </a:p>
          <a:p>
            <a:pPr marL="0" indent="0">
              <a:buNone/>
            </a:pPr>
            <a:r>
              <a:rPr lang="en-US" sz="2800" dirty="0"/>
              <a:t>King: =    Queen, only 1 square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3B930-3FE1-CE20-861D-A6D5B8630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C8BDF5-8EC0-B146-CD60-65A23C10D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78275B-67BB-4BB5-591A-4071B8C89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85417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D12F3-B9D2-83CC-B2CE-5D5692F7E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5BC97-D03B-90E3-89A8-37AC7CBDA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19655"/>
          </a:xfrm>
        </p:spPr>
        <p:txBody>
          <a:bodyPr/>
          <a:lstStyle/>
          <a:p>
            <a:r>
              <a:rPr lang="en-US" dirty="0"/>
              <a:t> Find possible piece’s destinations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E3ED59-C98B-ECCE-4825-7A7D5DE7BC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29255"/>
            <a:ext cx="8596668" cy="451210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800" dirty="0">
                <a:solidFill>
                  <a:schemeClr val="accent1"/>
                </a:solidFill>
              </a:rPr>
              <a:t>Very simplified algorithm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accent1"/>
                </a:solidFill>
              </a:rPr>
              <a:t> </a:t>
            </a:r>
            <a:r>
              <a:rPr lang="en-US" sz="3600" dirty="0">
                <a:solidFill>
                  <a:schemeClr val="accent1"/>
                </a:solidFill>
              </a:rPr>
              <a:t>For each direction in piece’s list:</a:t>
            </a:r>
          </a:p>
          <a:p>
            <a:pPr marL="457200" lvl="1" indent="0">
              <a:buNone/>
            </a:pPr>
            <a:r>
              <a:rPr lang="en-US" sz="3600" dirty="0">
                <a:solidFill>
                  <a:schemeClr val="accent1"/>
                </a:solidFill>
              </a:rPr>
              <a:t>Repeat with current direction:</a:t>
            </a:r>
          </a:p>
          <a:p>
            <a:pPr marL="457200" lvl="1" indent="0">
              <a:buNone/>
            </a:pPr>
            <a:r>
              <a:rPr lang="en-US" sz="3600" dirty="0">
                <a:solidFill>
                  <a:schemeClr val="accent1"/>
                </a:solidFill>
              </a:rPr>
              <a:t>	Look in direction, to new square</a:t>
            </a:r>
          </a:p>
          <a:p>
            <a:pPr marL="914400" lvl="2" indent="0">
              <a:buNone/>
            </a:pPr>
            <a:r>
              <a:rPr lang="en-US" sz="3400" dirty="0">
                <a:solidFill>
                  <a:schemeClr val="accent1"/>
                </a:solidFill>
              </a:rPr>
              <a:t>If obstacle [board edge, our color piece, in check]: </a:t>
            </a:r>
            <a:r>
              <a:rPr lang="en-US" sz="3200" dirty="0">
                <a:solidFill>
                  <a:schemeClr val="accent1"/>
                </a:solidFill>
              </a:rPr>
              <a:t> Go to next direction</a:t>
            </a:r>
          </a:p>
          <a:p>
            <a:pPr marL="914400" lvl="2" indent="0">
              <a:buNone/>
            </a:pPr>
            <a:r>
              <a:rPr lang="en-US" sz="3400" dirty="0">
                <a:solidFill>
                  <a:schemeClr val="accent1"/>
                </a:solidFill>
              </a:rPr>
              <a:t>Add square to destination list</a:t>
            </a:r>
          </a:p>
          <a:p>
            <a:pPr marL="914400" lvl="2" indent="0">
              <a:buNone/>
            </a:pPr>
            <a:r>
              <a:rPr lang="en-US" sz="3200" dirty="0">
                <a:solidFill>
                  <a:schemeClr val="accent1"/>
                </a:solidFill>
              </a:rPr>
              <a:t>If capture: Go to next direction</a:t>
            </a:r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1401A6-7372-644B-08FC-EF33493FB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05D51E-C246-FC3A-7654-C1A527181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FE575-60E3-CB2D-E0B7-2FC96D73B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6048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C4228B-5243-00E4-B56F-A23E2FE47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1EA610-00EB-EA7A-F25E-5BF0F31AFD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4D3242-EF5C-FF50-B394-F4BE80817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26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8B7A115-41A8-A23F-BB59-7DDD2749BA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613" y="0"/>
            <a:ext cx="6192774" cy="6716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064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F9C39FE-31B9-52A2-5269-0EB66D0AE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Destination squares after 16. Bc5</a:t>
            </a:r>
            <a:br>
              <a:rPr lang="en-US" dirty="0"/>
            </a:br>
            <a:r>
              <a:rPr lang="en-US" dirty="0"/>
              <a:t>for Rook at F8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B596F4-9C52-73D1-825B-B95E6E35C4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(move direction): square - result</a:t>
            </a:r>
          </a:p>
          <a:p>
            <a:r>
              <a:rPr lang="en-US" sz="2800" dirty="0"/>
              <a:t>(-1,0): e8, (-1,0): d8, (-1,0): c8, (-1,0): b8 (-1,0): a8 - obstacle: our color piece</a:t>
            </a:r>
          </a:p>
          <a:p>
            <a:r>
              <a:rPr lang="en-US" sz="2800" dirty="0"/>
              <a:t>Destination list: e8, d8, c8, b8</a:t>
            </a:r>
          </a:p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09BEF5-825D-2520-80C5-9313DAD927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11B85-6381-4843-915E-A80D8CF566B9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55A215-0EEC-7189-78E9-F2F35F76E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CDD355-535D-D950-4741-34AE762C5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47401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90694-AA7F-451B-A875-1D23D1FDB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5892" y="2723015"/>
            <a:ext cx="8596668" cy="1320800"/>
          </a:xfrm>
        </p:spPr>
        <p:txBody>
          <a:bodyPr>
            <a:normAutofit/>
          </a:bodyPr>
          <a:lstStyle/>
          <a:p>
            <a:r>
              <a:rPr lang="en-US" sz="6600" dirty="0"/>
              <a:t>Question and Answer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23EE2F-E3E9-437B-AFAE-1E0C5C94A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91550-E13A-47A9-8AAC-51D029CF9A78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4D04EE-5AD0-4A57-A42E-AE62E411AC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11C448-36A8-43E6-A891-6E42F22D1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2011312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76166</TotalTime>
  <Words>1843</Words>
  <Application>Microsoft Office PowerPoint</Application>
  <PresentationFormat>Widescreen</PresentationFormat>
  <Paragraphs>294</Paragraphs>
  <Slides>28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Arial</vt:lpstr>
      <vt:lpstr>Calibri</vt:lpstr>
      <vt:lpstr>Courier New</vt:lpstr>
      <vt:lpstr>Trebuchet MS</vt:lpstr>
      <vt:lpstr>Wingdings 3</vt:lpstr>
      <vt:lpstr>Facet</vt:lpstr>
      <vt:lpstr>Chess Display and Computers </vt:lpstr>
      <vt:lpstr>Session Objectives</vt:lpstr>
      <vt:lpstr>Chess Display</vt:lpstr>
      <vt:lpstr>Chess Display Program</vt:lpstr>
      <vt:lpstr>Program Demo</vt:lpstr>
      <vt:lpstr>PowerPoint Presentation</vt:lpstr>
      <vt:lpstr>PowerPoint Presentation</vt:lpstr>
      <vt:lpstr>Game of the Century – Portable Game Notation</vt:lpstr>
      <vt:lpstr>Game of the Century</vt:lpstr>
      <vt:lpstr>Programming Challenges</vt:lpstr>
      <vt:lpstr>Chess Move Notation</vt:lpstr>
      <vt:lpstr>Algebraic Chess Move Notation</vt:lpstr>
      <vt:lpstr>Chess Interpretation Challenges</vt:lpstr>
      <vt:lpstr>Chess Move Notation – Example: 1. Nf3</vt:lpstr>
      <vt:lpstr>Move Parsing – onion skin approach</vt:lpstr>
      <vt:lpstr>Move Parsing – onion skin - continued</vt:lpstr>
      <vt:lpstr>Chess Move Notation - Disambiguation  – Example: 16… Rfe8+</vt:lpstr>
      <vt:lpstr> Finding Piece Requires Move Knowledge</vt:lpstr>
      <vt:lpstr> How the Pieces Move (in computer eyes)</vt:lpstr>
      <vt:lpstr> How the Pieces Move (in computer eyes)</vt:lpstr>
      <vt:lpstr> Pawn Move Lists</vt:lpstr>
      <vt:lpstr> White Pawn Moves / Captures</vt:lpstr>
      <vt:lpstr> Black Pawn Moves/Captures</vt:lpstr>
      <vt:lpstr> More Piece Move Lists</vt:lpstr>
      <vt:lpstr> Find possible piece’s destinations</vt:lpstr>
      <vt:lpstr>PowerPoint Presentation</vt:lpstr>
      <vt:lpstr>Destination squares after 16. Bc5 for Rook at F8</vt:lpstr>
      <vt:lpstr>Question and Answer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Teaching Introduction to Proramming Using Python</dc:title>
  <dc:creator>Charles Smith</dc:creator>
  <cp:lastModifiedBy>Charles Smith</cp:lastModifiedBy>
  <cp:revision>420</cp:revision>
  <cp:lastPrinted>2026-07-27T01:45:04Z</cp:lastPrinted>
  <dcterms:created xsi:type="dcterms:W3CDTF">2018-08-14T15:38:09Z</dcterms:created>
  <dcterms:modified xsi:type="dcterms:W3CDTF">2026-08-09T02:38:50Z</dcterms:modified>
</cp:coreProperties>
</file>